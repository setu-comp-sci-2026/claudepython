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55"/>
  </p:notesMasterIdLst>
  <p:handoutMasterIdLst>
    <p:handoutMasterId r:id="rId56"/>
  </p:handoutMasterIdLst>
  <p:sldIdLst>
    <p:sldId id="258" r:id="rId3"/>
    <p:sldId id="337" r:id="rId4"/>
    <p:sldId id="433" r:id="rId5"/>
    <p:sldId id="401" r:id="rId6"/>
    <p:sldId id="431" r:id="rId7"/>
    <p:sldId id="404" r:id="rId8"/>
    <p:sldId id="400" r:id="rId9"/>
    <p:sldId id="399" r:id="rId10"/>
    <p:sldId id="434" r:id="rId11"/>
    <p:sldId id="435" r:id="rId12"/>
    <p:sldId id="436" r:id="rId13"/>
    <p:sldId id="437" r:id="rId14"/>
    <p:sldId id="402" r:id="rId15"/>
    <p:sldId id="438" r:id="rId16"/>
    <p:sldId id="440" r:id="rId17"/>
    <p:sldId id="439" r:id="rId18"/>
    <p:sldId id="403" r:id="rId19"/>
    <p:sldId id="442" r:id="rId20"/>
    <p:sldId id="445" r:id="rId21"/>
    <p:sldId id="444" r:id="rId22"/>
    <p:sldId id="446" r:id="rId23"/>
    <p:sldId id="447" r:id="rId24"/>
    <p:sldId id="448" r:id="rId25"/>
    <p:sldId id="449" r:id="rId26"/>
    <p:sldId id="450" r:id="rId27"/>
    <p:sldId id="451" r:id="rId28"/>
    <p:sldId id="452" r:id="rId29"/>
    <p:sldId id="441" r:id="rId30"/>
    <p:sldId id="277" r:id="rId31"/>
    <p:sldId id="278" r:id="rId32"/>
    <p:sldId id="453" r:id="rId33"/>
    <p:sldId id="454" r:id="rId34"/>
    <p:sldId id="279" r:id="rId35"/>
    <p:sldId id="455" r:id="rId36"/>
    <p:sldId id="456" r:id="rId37"/>
    <p:sldId id="458" r:id="rId38"/>
    <p:sldId id="457" r:id="rId39"/>
    <p:sldId id="465" r:id="rId40"/>
    <p:sldId id="466" r:id="rId41"/>
    <p:sldId id="467" r:id="rId42"/>
    <p:sldId id="461" r:id="rId43"/>
    <p:sldId id="460" r:id="rId44"/>
    <p:sldId id="462" r:id="rId45"/>
    <p:sldId id="463" r:id="rId46"/>
    <p:sldId id="470" r:id="rId47"/>
    <p:sldId id="464" r:id="rId48"/>
    <p:sldId id="469" r:id="rId49"/>
    <p:sldId id="471" r:id="rId50"/>
    <p:sldId id="468" r:id="rId51"/>
    <p:sldId id="472" r:id="rId52"/>
    <p:sldId id="398" r:id="rId53"/>
    <p:sldId id="311" r:id="rId54"/>
  </p:sldIdLst>
  <p:sldSz cx="9144000" cy="6858000" type="screen4x3"/>
  <p:notesSz cx="6858000" cy="9144000"/>
  <p:custDataLst>
    <p:tags r:id="rId5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5A6DB2"/>
    <a:srgbClr val="5270FF"/>
    <a:srgbClr val="CC0000"/>
    <a:srgbClr val="A471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82" autoAdjust="0"/>
    <p:restoredTop sz="82064" autoAdjust="0"/>
  </p:normalViewPr>
  <p:slideViewPr>
    <p:cSldViewPr>
      <p:cViewPr varScale="1">
        <p:scale>
          <a:sx n="97" d="100"/>
          <a:sy n="97" d="100"/>
        </p:scale>
        <p:origin x="1416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264"/>
    </p:cViewPr>
  </p:sorterViewPr>
  <p:notesViewPr>
    <p:cSldViewPr>
      <p:cViewPr varScale="1">
        <p:scale>
          <a:sx n="59" d="100"/>
          <a:sy n="59" d="100"/>
        </p:scale>
        <p:origin x="2517" y="3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gs" Target="tags/tag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6F1A17-6DE9-4CE2-9FF2-9E6CFE9852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033BC7-1CFD-4380-86F2-CE6C4D63F35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B75083-C4B1-4D5E-90D7-3308467FCB3C}" type="datetimeFigureOut">
              <a:rPr lang="en-IE" smtClean="0"/>
              <a:t>10/06/2026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C10CE8-9B63-4C57-94CE-F08EE05AC3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09C039-A49F-477C-8497-F59DC650DA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505FAD-D6B6-46C0-AF60-19EB290A05F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208232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10/06/2026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8012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63DB36-5273-45A5-A77C-FE9BE0779D84}" type="slidenum">
              <a:rPr kumimoji="0" lang="en-I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4265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63DB36-5273-45A5-A77C-FE9BE0779D84}" type="slidenum">
              <a:rPr kumimoji="0" lang="en-I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84703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err="1"/>
              <a:t>isOpen</a:t>
            </a:r>
            <a:r>
              <a:rPr lang="en-GB" dirty="0"/>
              <a:t> = True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err="1"/>
              <a:t>isSet</a:t>
            </a:r>
            <a:r>
              <a:rPr lang="en-GB" dirty="0"/>
              <a:t> = False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print("The value of </a:t>
            </a:r>
            <a:r>
              <a:rPr lang="en-GB" dirty="0" err="1"/>
              <a:t>isOpen</a:t>
            </a:r>
            <a:r>
              <a:rPr lang="en-GB" dirty="0"/>
              <a:t> is: " + str(</a:t>
            </a:r>
            <a:r>
              <a:rPr lang="en-GB" dirty="0" err="1"/>
              <a:t>isOpen</a:t>
            </a:r>
            <a:r>
              <a:rPr lang="en-GB" dirty="0"/>
              <a:t>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print("The value of </a:t>
            </a:r>
            <a:r>
              <a:rPr lang="en-GB" dirty="0" err="1"/>
              <a:t>isSet</a:t>
            </a:r>
            <a:r>
              <a:rPr lang="en-GB" dirty="0"/>
              <a:t> is: " + str(</a:t>
            </a:r>
            <a:r>
              <a:rPr lang="en-GB" dirty="0" err="1"/>
              <a:t>isSet</a:t>
            </a:r>
            <a:r>
              <a:rPr lang="en-GB" dirty="0"/>
              <a:t>))</a:t>
            </a:r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455830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8614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FB914E-CF00-448E-A14B-E53BADD4D4F1}" type="slidenum">
              <a:rPr lang="en-GB"/>
              <a:pPr/>
              <a:t>8</a:t>
            </a:fld>
            <a:endParaRPr lang="en-GB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8319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FB914E-CF00-448E-A14B-E53BADD4D4F1}" type="slidenum">
              <a:rPr lang="en-GB"/>
              <a:pPr/>
              <a:t>9</a:t>
            </a:fld>
            <a:endParaRPr lang="en-GB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8380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FB914E-CF00-448E-A14B-E53BADD4D4F1}" type="slidenum">
              <a:rPr lang="en-GB"/>
              <a:pPr/>
              <a:t>10</a:t>
            </a:fld>
            <a:endParaRPr lang="en-GB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5414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FB914E-CF00-448E-A14B-E53BADD4D4F1}" type="slidenum">
              <a:rPr lang="en-GB"/>
              <a:pPr/>
              <a:t>11</a:t>
            </a:fld>
            <a:endParaRPr lang="en-GB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programmer can choose how many white spaces they would like to include for their indentation, but they need to be consistent, otherwise you may get a syntax error.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0174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def setup():</a:t>
            </a:r>
          </a:p>
          <a:p>
            <a:r>
              <a:rPr lang="en-GB" dirty="0"/>
              <a:t>    size(100,100)</a:t>
            </a:r>
          </a:p>
          <a:p>
            <a:r>
              <a:rPr lang="en-GB" dirty="0"/>
              <a:t>    fill(0)</a:t>
            </a:r>
          </a:p>
          <a:p>
            <a:endParaRPr lang="en-GB" dirty="0"/>
          </a:p>
          <a:p>
            <a:r>
              <a:rPr lang="en-GB" dirty="0"/>
              <a:t>def draw():</a:t>
            </a:r>
          </a:p>
          <a:p>
            <a:r>
              <a:rPr lang="en-GB" dirty="0"/>
              <a:t>    if </a:t>
            </a:r>
            <a:r>
              <a:rPr lang="en-GB" dirty="0" err="1"/>
              <a:t>mouseX</a:t>
            </a:r>
            <a:r>
              <a:rPr lang="en-GB" dirty="0"/>
              <a:t> &gt; 50:</a:t>
            </a:r>
          </a:p>
          <a:p>
            <a:r>
              <a:rPr lang="en-GB" dirty="0"/>
              <a:t>        </a:t>
            </a:r>
            <a:r>
              <a:rPr lang="en-GB" dirty="0" err="1"/>
              <a:t>rect</a:t>
            </a:r>
            <a:r>
              <a:rPr lang="en-GB" dirty="0"/>
              <a:t>(50, 0, 50, 100)</a:t>
            </a:r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154128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def setup():</a:t>
            </a:r>
          </a:p>
          <a:p>
            <a:r>
              <a:rPr lang="en-GB" dirty="0"/>
              <a:t>    size(100,100)</a:t>
            </a:r>
          </a:p>
          <a:p>
            <a:r>
              <a:rPr lang="en-GB" dirty="0"/>
              <a:t>    fill(0)</a:t>
            </a:r>
          </a:p>
          <a:p>
            <a:endParaRPr lang="en-GB" dirty="0"/>
          </a:p>
          <a:p>
            <a:r>
              <a:rPr lang="en-GB" dirty="0"/>
              <a:t>def draw():</a:t>
            </a:r>
          </a:p>
          <a:p>
            <a:r>
              <a:rPr lang="en-GB" dirty="0"/>
              <a:t>    background(200);</a:t>
            </a:r>
          </a:p>
          <a:p>
            <a:r>
              <a:rPr lang="en-GB" dirty="0"/>
              <a:t>    if </a:t>
            </a:r>
            <a:r>
              <a:rPr lang="en-GB" dirty="0" err="1"/>
              <a:t>mouseX</a:t>
            </a:r>
            <a:r>
              <a:rPr lang="en-GB" dirty="0"/>
              <a:t> &lt;= 50:   #left</a:t>
            </a:r>
          </a:p>
          <a:p>
            <a:r>
              <a:rPr lang="en-GB" dirty="0"/>
              <a:t>        </a:t>
            </a:r>
            <a:r>
              <a:rPr lang="en-GB" dirty="0" err="1"/>
              <a:t>rect</a:t>
            </a:r>
            <a:r>
              <a:rPr lang="en-GB" dirty="0"/>
              <a:t>(0, 0, 50, 100)</a:t>
            </a:r>
          </a:p>
          <a:p>
            <a:r>
              <a:rPr lang="en-GB" dirty="0"/>
              <a:t>    if </a:t>
            </a:r>
            <a:r>
              <a:rPr lang="en-GB" dirty="0" err="1"/>
              <a:t>mouseX</a:t>
            </a:r>
            <a:r>
              <a:rPr lang="en-GB" dirty="0"/>
              <a:t> &gt; 50:    #right</a:t>
            </a:r>
          </a:p>
          <a:p>
            <a:r>
              <a:rPr lang="en-GB" dirty="0"/>
              <a:t>        </a:t>
            </a:r>
            <a:r>
              <a:rPr lang="en-GB" dirty="0" err="1"/>
              <a:t>rect</a:t>
            </a:r>
            <a:r>
              <a:rPr lang="en-GB" dirty="0"/>
              <a:t>(50, 0, 50, 100)</a:t>
            </a:r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992866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FB914E-CF00-448E-A14B-E53BADD4D4F1}" type="slidenum">
              <a:rPr lang="en-GB"/>
              <a:pPr/>
              <a:t>18</a:t>
            </a:fld>
            <a:endParaRPr lang="en-GB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4934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FB914E-CF00-448E-A14B-E53BADD4D4F1}" type="slidenum">
              <a:rPr lang="en-GB"/>
              <a:pPr/>
              <a:t>19</a:t>
            </a:fld>
            <a:endParaRPr lang="en-GB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5140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FB914E-CF00-448E-A14B-E53BADD4D4F1}" type="slidenum">
              <a:rPr lang="en-GB"/>
              <a:pPr/>
              <a:t>20</a:t>
            </a:fld>
            <a:endParaRPr lang="en-GB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088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FB914E-CF00-448E-A14B-E53BADD4D4F1}" type="slidenum">
              <a:rPr lang="en-GB"/>
              <a:pPr/>
              <a:t>21</a:t>
            </a:fld>
            <a:endParaRPr lang="en-GB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6071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def setup():</a:t>
            </a:r>
          </a:p>
          <a:p>
            <a:r>
              <a:rPr lang="en-GB" dirty="0"/>
              <a:t>    size(100,100)</a:t>
            </a:r>
          </a:p>
          <a:p>
            <a:r>
              <a:rPr lang="en-GB" dirty="0"/>
              <a:t>    fill(0)</a:t>
            </a:r>
          </a:p>
          <a:p>
            <a:endParaRPr lang="en-GB" dirty="0"/>
          </a:p>
          <a:p>
            <a:r>
              <a:rPr lang="en-GB" dirty="0"/>
              <a:t>def draw():</a:t>
            </a:r>
          </a:p>
          <a:p>
            <a:r>
              <a:rPr lang="en-GB" dirty="0"/>
              <a:t>    background(200);</a:t>
            </a:r>
          </a:p>
          <a:p>
            <a:r>
              <a:rPr lang="en-GB" dirty="0"/>
              <a:t>    if </a:t>
            </a:r>
            <a:r>
              <a:rPr lang="en-GB" dirty="0" err="1"/>
              <a:t>mouseX</a:t>
            </a:r>
            <a:r>
              <a:rPr lang="en-GB" dirty="0"/>
              <a:t> &lt;= 50:   #left</a:t>
            </a:r>
          </a:p>
          <a:p>
            <a:r>
              <a:rPr lang="en-GB" dirty="0"/>
              <a:t>        </a:t>
            </a:r>
            <a:r>
              <a:rPr lang="en-GB" dirty="0" err="1"/>
              <a:t>rect</a:t>
            </a:r>
            <a:r>
              <a:rPr lang="en-GB" dirty="0"/>
              <a:t>(0, 0, 50, 100)</a:t>
            </a:r>
          </a:p>
          <a:p>
            <a:r>
              <a:rPr lang="en-GB" dirty="0"/>
              <a:t>    if </a:t>
            </a:r>
            <a:r>
              <a:rPr lang="en-GB" dirty="0" err="1"/>
              <a:t>mouseX</a:t>
            </a:r>
            <a:r>
              <a:rPr lang="en-GB" dirty="0"/>
              <a:t> &gt; 50:    #right</a:t>
            </a:r>
          </a:p>
          <a:p>
            <a:r>
              <a:rPr lang="en-GB" dirty="0"/>
              <a:t>        </a:t>
            </a:r>
            <a:r>
              <a:rPr lang="en-GB" dirty="0" err="1"/>
              <a:t>rect</a:t>
            </a:r>
            <a:r>
              <a:rPr lang="en-GB" dirty="0"/>
              <a:t>(50, 0, 50, 100)</a:t>
            </a:r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22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671223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def setup():</a:t>
            </a:r>
          </a:p>
          <a:p>
            <a:r>
              <a:rPr lang="en-GB" dirty="0"/>
              <a:t>    size(100,100)</a:t>
            </a:r>
          </a:p>
          <a:p>
            <a:r>
              <a:rPr lang="en-GB" dirty="0"/>
              <a:t>    fill(0)</a:t>
            </a:r>
          </a:p>
          <a:p>
            <a:endParaRPr lang="en-GB" dirty="0"/>
          </a:p>
          <a:p>
            <a:r>
              <a:rPr lang="en-GB" dirty="0"/>
              <a:t>def draw():</a:t>
            </a:r>
          </a:p>
          <a:p>
            <a:r>
              <a:rPr lang="en-GB" dirty="0"/>
              <a:t>    background(200);</a:t>
            </a:r>
          </a:p>
          <a:p>
            <a:r>
              <a:rPr lang="en-GB" dirty="0"/>
              <a:t>    if </a:t>
            </a:r>
            <a:r>
              <a:rPr lang="en-GB" dirty="0" err="1"/>
              <a:t>mouseX</a:t>
            </a:r>
            <a:r>
              <a:rPr lang="en-GB" dirty="0"/>
              <a:t> &lt;= 50:   #left</a:t>
            </a:r>
          </a:p>
          <a:p>
            <a:r>
              <a:rPr lang="en-GB" dirty="0"/>
              <a:t>        </a:t>
            </a:r>
            <a:r>
              <a:rPr lang="en-GB" dirty="0" err="1"/>
              <a:t>rect</a:t>
            </a:r>
            <a:r>
              <a:rPr lang="en-GB" dirty="0"/>
              <a:t>(0, 0, 50, 100)</a:t>
            </a:r>
          </a:p>
          <a:p>
            <a:r>
              <a:rPr lang="en-GB" dirty="0"/>
              <a:t>    else:              #right</a:t>
            </a:r>
          </a:p>
          <a:p>
            <a:r>
              <a:rPr lang="en-GB" dirty="0"/>
              <a:t>        </a:t>
            </a:r>
            <a:r>
              <a:rPr lang="en-GB" dirty="0" err="1"/>
              <a:t>rect</a:t>
            </a:r>
            <a:r>
              <a:rPr lang="en-GB" dirty="0"/>
              <a:t>(50, 0, 50, 100)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23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768512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FB914E-CF00-448E-A14B-E53BADD4D4F1}" type="slidenum">
              <a:rPr lang="en-GB"/>
              <a:pPr/>
              <a:t>25</a:t>
            </a:fld>
            <a:endParaRPr lang="en-GB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You can have as many occurrences of “</a:t>
            </a:r>
            <a:r>
              <a:rPr lang="en-US" dirty="0" err="1"/>
              <a:t>elif</a:t>
            </a:r>
            <a:r>
              <a:rPr lang="en-US" dirty="0"/>
              <a:t>” as you wish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4977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800344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595841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703707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IE" dirty="0"/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33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340598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IE" dirty="0"/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34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260604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def setup():</a:t>
            </a:r>
          </a:p>
          <a:p>
            <a:r>
              <a:rPr lang="en-GB" dirty="0"/>
              <a:t>    size(100,100)</a:t>
            </a:r>
          </a:p>
          <a:p>
            <a:r>
              <a:rPr lang="en-GB" dirty="0"/>
              <a:t>    fill(0)</a:t>
            </a:r>
          </a:p>
          <a:p>
            <a:r>
              <a:rPr lang="en-GB" dirty="0"/>
              <a:t>    </a:t>
            </a:r>
            <a:r>
              <a:rPr lang="en-GB" dirty="0" err="1"/>
              <a:t>noStroke</a:t>
            </a:r>
            <a:r>
              <a:rPr lang="en-GB" dirty="0"/>
              <a:t>()</a:t>
            </a:r>
          </a:p>
          <a:p>
            <a:endParaRPr lang="en-GB" dirty="0"/>
          </a:p>
          <a:p>
            <a:r>
              <a:rPr lang="en-GB" dirty="0"/>
              <a:t>def draw():</a:t>
            </a:r>
          </a:p>
          <a:p>
            <a:r>
              <a:rPr lang="en-GB" dirty="0"/>
              <a:t>    background(200);</a:t>
            </a:r>
          </a:p>
          <a:p>
            <a:r>
              <a:rPr lang="en-GB" dirty="0"/>
              <a:t>    if </a:t>
            </a:r>
            <a:r>
              <a:rPr lang="en-GB" dirty="0" err="1"/>
              <a:t>mouseX</a:t>
            </a:r>
            <a:r>
              <a:rPr lang="en-GB" dirty="0"/>
              <a:t>&gt;=10 and </a:t>
            </a:r>
            <a:r>
              <a:rPr lang="en-GB" dirty="0" err="1"/>
              <a:t>mouseX</a:t>
            </a:r>
            <a:r>
              <a:rPr lang="en-GB" dirty="0"/>
              <a:t>&lt;=60 and </a:t>
            </a:r>
            <a:r>
              <a:rPr lang="en-GB" dirty="0" err="1"/>
              <a:t>mouseY</a:t>
            </a:r>
            <a:r>
              <a:rPr lang="en-GB" dirty="0"/>
              <a:t>&gt;=20 and </a:t>
            </a:r>
            <a:r>
              <a:rPr lang="en-GB" dirty="0" err="1"/>
              <a:t>mouseY</a:t>
            </a:r>
            <a:r>
              <a:rPr lang="en-GB" dirty="0"/>
              <a:t>&lt;=90:      </a:t>
            </a:r>
          </a:p>
          <a:p>
            <a:r>
              <a:rPr lang="en-GB" dirty="0"/>
              <a:t>        fill(255)  #white</a:t>
            </a:r>
          </a:p>
          <a:p>
            <a:r>
              <a:rPr lang="en-GB" dirty="0"/>
              <a:t>    else:</a:t>
            </a:r>
          </a:p>
          <a:p>
            <a:r>
              <a:rPr lang="en-GB" dirty="0"/>
              <a:t>        fill(0)    #black                </a:t>
            </a:r>
          </a:p>
          <a:p>
            <a:r>
              <a:rPr lang="en-GB" dirty="0"/>
              <a:t>    </a:t>
            </a:r>
            <a:r>
              <a:rPr lang="en-GB" dirty="0" err="1"/>
              <a:t>rect</a:t>
            </a:r>
            <a:r>
              <a:rPr lang="en-GB" dirty="0"/>
              <a:t>(10, 20, 50, 70)</a:t>
            </a:r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513729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def setup():</a:t>
            </a:r>
          </a:p>
          <a:p>
            <a:r>
              <a:rPr lang="en-GB" dirty="0"/>
              <a:t>    size(100,100)</a:t>
            </a:r>
          </a:p>
          <a:p>
            <a:r>
              <a:rPr lang="en-GB" dirty="0"/>
              <a:t>    fill(0)</a:t>
            </a:r>
          </a:p>
          <a:p>
            <a:r>
              <a:rPr lang="en-GB" dirty="0"/>
              <a:t>    </a:t>
            </a:r>
            <a:r>
              <a:rPr lang="en-GB" dirty="0" err="1"/>
              <a:t>noStroke</a:t>
            </a:r>
            <a:r>
              <a:rPr lang="en-GB" dirty="0"/>
              <a:t>()</a:t>
            </a:r>
          </a:p>
          <a:p>
            <a:endParaRPr lang="en-GB" dirty="0"/>
          </a:p>
          <a:p>
            <a:r>
              <a:rPr lang="en-GB" dirty="0"/>
              <a:t>def draw():</a:t>
            </a:r>
          </a:p>
          <a:p>
            <a:r>
              <a:rPr lang="en-GB" dirty="0"/>
              <a:t>    background(200);</a:t>
            </a:r>
          </a:p>
          <a:p>
            <a:r>
              <a:rPr lang="en-GB" dirty="0"/>
              <a:t>    if (</a:t>
            </a:r>
            <a:r>
              <a:rPr lang="en-GB" dirty="0" err="1"/>
              <a:t>mouseX</a:t>
            </a:r>
            <a:r>
              <a:rPr lang="en-GB" dirty="0"/>
              <a:t> &lt;=50 and </a:t>
            </a:r>
            <a:r>
              <a:rPr lang="en-GB" dirty="0" err="1"/>
              <a:t>mouseY</a:t>
            </a:r>
            <a:r>
              <a:rPr lang="en-GB" dirty="0"/>
              <a:t> &lt;= 50):</a:t>
            </a:r>
          </a:p>
          <a:p>
            <a:r>
              <a:rPr lang="en-GB" dirty="0"/>
              <a:t>       </a:t>
            </a:r>
            <a:r>
              <a:rPr lang="en-GB" dirty="0" err="1"/>
              <a:t>rect</a:t>
            </a:r>
            <a:r>
              <a:rPr lang="en-GB" dirty="0"/>
              <a:t>(0, 0, 50, 50)  #upper-left</a:t>
            </a:r>
          </a:p>
          <a:p>
            <a:r>
              <a:rPr lang="en-GB" dirty="0"/>
              <a:t>    </a:t>
            </a:r>
            <a:r>
              <a:rPr lang="en-GB" dirty="0" err="1"/>
              <a:t>elif</a:t>
            </a:r>
            <a:r>
              <a:rPr lang="en-GB" dirty="0"/>
              <a:t> (</a:t>
            </a:r>
            <a:r>
              <a:rPr lang="en-GB" dirty="0" err="1"/>
              <a:t>mouseX</a:t>
            </a:r>
            <a:r>
              <a:rPr lang="en-GB" dirty="0"/>
              <a:t> &lt;=50 and </a:t>
            </a:r>
            <a:r>
              <a:rPr lang="en-GB" dirty="0" err="1"/>
              <a:t>mouseY</a:t>
            </a:r>
            <a:r>
              <a:rPr lang="en-GB" dirty="0"/>
              <a:t> &gt; 50):</a:t>
            </a:r>
          </a:p>
          <a:p>
            <a:r>
              <a:rPr lang="en-GB" dirty="0"/>
              <a:t>       </a:t>
            </a:r>
            <a:r>
              <a:rPr lang="en-GB" dirty="0" err="1"/>
              <a:t>rect</a:t>
            </a:r>
            <a:r>
              <a:rPr lang="en-GB" dirty="0"/>
              <a:t>(0, 50, 50, 50) #lower-left</a:t>
            </a:r>
          </a:p>
          <a:p>
            <a:r>
              <a:rPr lang="en-GB" dirty="0"/>
              <a:t>    </a:t>
            </a:r>
            <a:r>
              <a:rPr lang="en-GB" dirty="0" err="1"/>
              <a:t>elif</a:t>
            </a:r>
            <a:r>
              <a:rPr lang="en-GB" dirty="0"/>
              <a:t> (</a:t>
            </a:r>
            <a:r>
              <a:rPr lang="en-GB" dirty="0" err="1"/>
              <a:t>mouseX</a:t>
            </a:r>
            <a:r>
              <a:rPr lang="en-GB" dirty="0"/>
              <a:t> &gt; 50 and </a:t>
            </a:r>
            <a:r>
              <a:rPr lang="en-GB" dirty="0" err="1"/>
              <a:t>mouseY</a:t>
            </a:r>
            <a:r>
              <a:rPr lang="en-GB" dirty="0"/>
              <a:t> &lt;= 50):</a:t>
            </a:r>
          </a:p>
          <a:p>
            <a:r>
              <a:rPr lang="en-GB" dirty="0"/>
              <a:t>       </a:t>
            </a:r>
            <a:r>
              <a:rPr lang="en-GB" dirty="0" err="1"/>
              <a:t>rect</a:t>
            </a:r>
            <a:r>
              <a:rPr lang="en-GB" dirty="0"/>
              <a:t>(50, 0, 50, 50) #upper-right</a:t>
            </a:r>
          </a:p>
          <a:p>
            <a:r>
              <a:rPr lang="en-GB" dirty="0"/>
              <a:t>    else:</a:t>
            </a:r>
          </a:p>
          <a:p>
            <a:r>
              <a:rPr lang="en-GB" dirty="0"/>
              <a:t>       </a:t>
            </a:r>
            <a:r>
              <a:rPr lang="en-GB" dirty="0" err="1"/>
              <a:t>rect</a:t>
            </a:r>
            <a:r>
              <a:rPr lang="en-GB" dirty="0"/>
              <a:t>(50, 50, 50, 50) #lower-right</a:t>
            </a:r>
          </a:p>
          <a:p>
            <a:r>
              <a:rPr lang="en-GB" dirty="0"/>
              <a:t>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40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294920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44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166439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51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99082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6EA5-3035-478A-9211-B47D11563DB1}" type="datetime1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8401" y="11738"/>
            <a:ext cx="5835693" cy="648483"/>
          </a:xfrm>
        </p:spPr>
        <p:txBody>
          <a:bodyPr/>
          <a:lstStyle>
            <a:lvl1pPr algn="l">
              <a:defRPr>
                <a:solidFill>
                  <a:srgbClr val="5A6DB2"/>
                </a:solidFill>
              </a:defRPr>
            </a:lvl1pPr>
          </a:lstStyle>
          <a:p>
            <a:r>
              <a:rPr lang="en-US" dirty="0"/>
              <a:t>Click to edit Master title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8077200" cy="4830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46F0-3B3C-4C43-803C-CB62489643C3}" type="datetime1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25DC0-FDC1-4118-9F7C-F1B03F3FA111}" type="datetime1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F69C1-3E59-4948-BA68-421DD81D73ED}" type="datetime1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2BFEA65C-C63B-4FB8-AF70-20CFFF442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8401" y="11738"/>
            <a:ext cx="5835693" cy="648483"/>
          </a:xfrm>
        </p:spPr>
        <p:txBody>
          <a:bodyPr/>
          <a:lstStyle>
            <a:lvl1pPr algn="l">
              <a:defRPr>
                <a:solidFill>
                  <a:srgbClr val="5A6DB2"/>
                </a:solidFill>
              </a:defRPr>
            </a:lvl1pPr>
          </a:lstStyle>
          <a:p>
            <a:r>
              <a:rPr lang="en-US" dirty="0"/>
              <a:t>Click to edit Master title 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C2F96-1147-4536-BF18-F160C152556D}" type="datetime1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BD529B9E-C843-4023-A4E2-A290E703A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8401" y="11738"/>
            <a:ext cx="5835693" cy="648483"/>
          </a:xfrm>
        </p:spPr>
        <p:txBody>
          <a:bodyPr/>
          <a:lstStyle>
            <a:lvl1pPr algn="l">
              <a:defRPr>
                <a:solidFill>
                  <a:srgbClr val="5A6DB2"/>
                </a:solidFill>
              </a:defRPr>
            </a:lvl1pPr>
          </a:lstStyle>
          <a:p>
            <a:r>
              <a:rPr lang="en-US" dirty="0"/>
              <a:t>Click to edit Master title 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81134-6C50-43E3-A55B-B596BCF7BB11}" type="datetime1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80B4973-F20C-4472-BE38-EF85EBB0C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8401" y="11738"/>
            <a:ext cx="5835693" cy="648483"/>
          </a:xfrm>
        </p:spPr>
        <p:txBody>
          <a:bodyPr/>
          <a:lstStyle>
            <a:lvl1pPr algn="l">
              <a:defRPr>
                <a:solidFill>
                  <a:srgbClr val="5A6DB2"/>
                </a:solidFill>
              </a:defRPr>
            </a:lvl1pPr>
          </a:lstStyle>
          <a:p>
            <a:r>
              <a:rPr lang="en-US" dirty="0"/>
              <a:t>Click to edit Master title 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BB892-53DC-45ED-98C1-AC66EC4701AF}" type="datetime1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B0AAF-46E8-47BD-B36A-925165DF5FBD}" type="datetime1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1DA4B-9BD2-4A89-81A3-972B55E9320B}" type="datetime1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1B279-B23B-463D-981C-90548064B96F}" type="datetime1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29A39-59B8-46A2-BF1D-BEFDAE678C17}" type="datetime1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D09E9-9AD2-4DBA-BC06-70E09C967187}" type="datetime1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9408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8401" y="11738"/>
            <a:ext cx="5835693" cy="648483"/>
          </a:xfrm>
        </p:spPr>
        <p:txBody>
          <a:bodyPr/>
          <a:lstStyle>
            <a:lvl1pPr algn="l">
              <a:defRPr>
                <a:solidFill>
                  <a:srgbClr val="5A6DB2"/>
                </a:solidFill>
              </a:defRPr>
            </a:lvl1pPr>
          </a:lstStyle>
          <a:p>
            <a:r>
              <a:rPr lang="en-US" dirty="0"/>
              <a:t>Click to edit Master title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8077200" cy="4830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A0758-1195-4242-99F9-19E1C1954FB0}" type="datetime1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3772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727B8-D884-4D80-9354-519472F2EF8D}" type="datetime1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7307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C7E6D-4714-4EAB-B715-633A7AB74248}" type="datetime1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2BFEA65C-C63B-4FB8-AF70-20CFFF442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8401" y="11738"/>
            <a:ext cx="5835693" cy="648483"/>
          </a:xfrm>
        </p:spPr>
        <p:txBody>
          <a:bodyPr/>
          <a:lstStyle>
            <a:lvl1pPr algn="l">
              <a:defRPr>
                <a:solidFill>
                  <a:srgbClr val="5A6DB2"/>
                </a:solidFill>
              </a:defRPr>
            </a:lvl1pPr>
          </a:lstStyle>
          <a:p>
            <a:r>
              <a:rPr lang="en-US" dirty="0"/>
              <a:t>Click to edit Master title </a:t>
            </a:r>
          </a:p>
        </p:txBody>
      </p:sp>
    </p:spTree>
    <p:extLst>
      <p:ext uri="{BB962C8B-B14F-4D97-AF65-F5344CB8AC3E}">
        <p14:creationId xmlns:p14="http://schemas.microsoft.com/office/powerpoint/2010/main" val="24787916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6D03-77A6-413A-8361-C8D57620D0BC}" type="datetime1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BD529B9E-C843-4023-A4E2-A290E703A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8401" y="11738"/>
            <a:ext cx="5835693" cy="648483"/>
          </a:xfrm>
        </p:spPr>
        <p:txBody>
          <a:bodyPr/>
          <a:lstStyle>
            <a:lvl1pPr algn="l">
              <a:defRPr>
                <a:solidFill>
                  <a:srgbClr val="5A6DB2"/>
                </a:solidFill>
              </a:defRPr>
            </a:lvl1pPr>
          </a:lstStyle>
          <a:p>
            <a:r>
              <a:rPr lang="en-US" dirty="0"/>
              <a:t>Click to edit Master title </a:t>
            </a:r>
          </a:p>
        </p:txBody>
      </p:sp>
    </p:spTree>
    <p:extLst>
      <p:ext uri="{BB962C8B-B14F-4D97-AF65-F5344CB8AC3E}">
        <p14:creationId xmlns:p14="http://schemas.microsoft.com/office/powerpoint/2010/main" val="34598819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B2C0E-B834-41AC-BB2E-B9582E38AFB0}" type="datetime1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80B4973-F20C-4472-BE38-EF85EBB0C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8401" y="11738"/>
            <a:ext cx="5835693" cy="648483"/>
          </a:xfrm>
        </p:spPr>
        <p:txBody>
          <a:bodyPr/>
          <a:lstStyle>
            <a:lvl1pPr algn="l">
              <a:defRPr>
                <a:solidFill>
                  <a:srgbClr val="5A6DB2"/>
                </a:solidFill>
              </a:defRPr>
            </a:lvl1pPr>
          </a:lstStyle>
          <a:p>
            <a:r>
              <a:rPr lang="en-US" dirty="0"/>
              <a:t>Click to edit Master title </a:t>
            </a:r>
          </a:p>
        </p:txBody>
      </p:sp>
    </p:spTree>
    <p:extLst>
      <p:ext uri="{BB962C8B-B14F-4D97-AF65-F5344CB8AC3E}">
        <p14:creationId xmlns:p14="http://schemas.microsoft.com/office/powerpoint/2010/main" val="39220146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84591-7EA3-47D8-AF85-A5849C779330}" type="datetime1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1314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95D13-5775-4903-8805-E5248D2C58AB}" type="datetime1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8872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D2AFB-5B1B-47E9-8945-57B3D6A4C077}" type="datetime1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0535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47C7-614D-4B44-883E-D5B442B0C396}" type="datetime1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7053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D0F2B-F900-47C4-8A25-25BD8304F032}" type="datetime1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009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0" y="49823"/>
            <a:ext cx="57150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066800"/>
            <a:ext cx="8153400" cy="5059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25A8A-E886-43B0-A7A5-A85A77AE986A}" type="datetime1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E1D716-FE1B-418D-A4E2-1749CC1BDEB6}"/>
              </a:ext>
            </a:extLst>
          </p:cNvPr>
          <p:cNvSpPr/>
          <p:nvPr userDrawn="1"/>
        </p:nvSpPr>
        <p:spPr>
          <a:xfrm>
            <a:off x="228601" y="533400"/>
            <a:ext cx="152399" cy="5181600"/>
          </a:xfrm>
          <a:prstGeom prst="rect">
            <a:avLst/>
          </a:prstGeom>
          <a:solidFill>
            <a:srgbClr val="5A6D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23A283-8558-4C57-B8C5-6C56C8BAE09E}"/>
              </a:ext>
            </a:extLst>
          </p:cNvPr>
          <p:cNvSpPr/>
          <p:nvPr userDrawn="1"/>
        </p:nvSpPr>
        <p:spPr>
          <a:xfrm flipH="1">
            <a:off x="228600" y="175846"/>
            <a:ext cx="2819400" cy="357554"/>
          </a:xfrm>
          <a:prstGeom prst="rect">
            <a:avLst/>
          </a:prstGeom>
          <a:solidFill>
            <a:srgbClr val="5A6D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93910A-1C56-45B9-BE0E-BB640165F643}"/>
              </a:ext>
            </a:extLst>
          </p:cNvPr>
          <p:cNvSpPr/>
          <p:nvPr userDrawn="1"/>
        </p:nvSpPr>
        <p:spPr>
          <a:xfrm>
            <a:off x="228599" y="6400800"/>
            <a:ext cx="152399" cy="204787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E5442C-4F8A-4C18-BFCE-60E40A47584A}"/>
              </a:ext>
            </a:extLst>
          </p:cNvPr>
          <p:cNvSpPr/>
          <p:nvPr userDrawn="1"/>
        </p:nvSpPr>
        <p:spPr>
          <a:xfrm>
            <a:off x="228599" y="6096000"/>
            <a:ext cx="152399" cy="2286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D4F58B-2FA9-4B5A-9BF0-7112929B8C2F}"/>
              </a:ext>
            </a:extLst>
          </p:cNvPr>
          <p:cNvSpPr/>
          <p:nvPr userDrawn="1"/>
        </p:nvSpPr>
        <p:spPr>
          <a:xfrm>
            <a:off x="228601" y="5791200"/>
            <a:ext cx="152400" cy="228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5A6DB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0" y="49823"/>
            <a:ext cx="57150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066800"/>
            <a:ext cx="8153400" cy="5059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F746B-1387-4B31-9C9A-ED80E1EB3DF2}" type="datetime1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E1D716-FE1B-418D-A4E2-1749CC1BDEB6}"/>
              </a:ext>
            </a:extLst>
          </p:cNvPr>
          <p:cNvSpPr/>
          <p:nvPr userDrawn="1"/>
        </p:nvSpPr>
        <p:spPr>
          <a:xfrm>
            <a:off x="228601" y="533400"/>
            <a:ext cx="152399" cy="5181600"/>
          </a:xfrm>
          <a:prstGeom prst="rect">
            <a:avLst/>
          </a:prstGeom>
          <a:solidFill>
            <a:srgbClr val="5A6D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23A283-8558-4C57-B8C5-6C56C8BAE09E}"/>
              </a:ext>
            </a:extLst>
          </p:cNvPr>
          <p:cNvSpPr/>
          <p:nvPr userDrawn="1"/>
        </p:nvSpPr>
        <p:spPr>
          <a:xfrm flipH="1">
            <a:off x="228600" y="175846"/>
            <a:ext cx="2819400" cy="357554"/>
          </a:xfrm>
          <a:prstGeom prst="rect">
            <a:avLst/>
          </a:prstGeom>
          <a:solidFill>
            <a:srgbClr val="5A6D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93910A-1C56-45B9-BE0E-BB640165F643}"/>
              </a:ext>
            </a:extLst>
          </p:cNvPr>
          <p:cNvSpPr/>
          <p:nvPr userDrawn="1"/>
        </p:nvSpPr>
        <p:spPr>
          <a:xfrm>
            <a:off x="228599" y="6400800"/>
            <a:ext cx="152399" cy="204787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E5442C-4F8A-4C18-BFCE-60E40A47584A}"/>
              </a:ext>
            </a:extLst>
          </p:cNvPr>
          <p:cNvSpPr/>
          <p:nvPr userDrawn="1"/>
        </p:nvSpPr>
        <p:spPr>
          <a:xfrm>
            <a:off x="228599" y="6096000"/>
            <a:ext cx="152399" cy="2286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D4F58B-2FA9-4B5A-9BF0-7112929B8C2F}"/>
              </a:ext>
            </a:extLst>
          </p:cNvPr>
          <p:cNvSpPr/>
          <p:nvPr userDrawn="1"/>
        </p:nvSpPr>
        <p:spPr>
          <a:xfrm>
            <a:off x="228601" y="5791200"/>
            <a:ext cx="152400" cy="228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70317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5A6DB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4A704F2-1AA7-4D33-8ABA-4087139EFA63}"/>
              </a:ext>
            </a:extLst>
          </p:cNvPr>
          <p:cNvSpPr/>
          <p:nvPr/>
        </p:nvSpPr>
        <p:spPr>
          <a:xfrm>
            <a:off x="4453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dirty="0"/>
              <a:t> </a:t>
            </a:r>
          </a:p>
        </p:txBody>
      </p:sp>
      <p:pic>
        <p:nvPicPr>
          <p:cNvPr id="1026" name="Picture 2" descr="A picture containing red, person, yellow, black&#10;&#10;Description automatically generated">
            <a:extLst>
              <a:ext uri="{FF2B5EF4-FFF2-40B4-BE49-F238E27FC236}">
                <a16:creationId xmlns:a16="http://schemas.microsoft.com/office/drawing/2014/main" id="{3895408F-14A1-440D-8603-975A2C35B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5432425"/>
            <a:ext cx="3924300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 picture containing red, person, yellow, black&#10;&#10;Description automatically generated">
            <a:extLst>
              <a:ext uri="{FF2B5EF4-FFF2-40B4-BE49-F238E27FC236}">
                <a16:creationId xmlns:a16="http://schemas.microsoft.com/office/drawing/2014/main" id="{007F66D5-10F2-463A-ABC8-13DFCCAA9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6" y="5249247"/>
            <a:ext cx="3257549" cy="1312506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8E3772-EB63-44D2-89C0-5B88E7BA50A5}"/>
              </a:ext>
            </a:extLst>
          </p:cNvPr>
          <p:cNvSpPr/>
          <p:nvPr/>
        </p:nvSpPr>
        <p:spPr>
          <a:xfrm>
            <a:off x="228601" y="533400"/>
            <a:ext cx="152399" cy="5181600"/>
          </a:xfrm>
          <a:prstGeom prst="rect">
            <a:avLst/>
          </a:prstGeom>
          <a:solidFill>
            <a:srgbClr val="5A6D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2E41E0-1BDB-4981-A3DC-4CB124D3C692}"/>
              </a:ext>
            </a:extLst>
          </p:cNvPr>
          <p:cNvSpPr/>
          <p:nvPr/>
        </p:nvSpPr>
        <p:spPr>
          <a:xfrm flipH="1">
            <a:off x="228600" y="175846"/>
            <a:ext cx="2819400" cy="357554"/>
          </a:xfrm>
          <a:prstGeom prst="rect">
            <a:avLst/>
          </a:prstGeom>
          <a:solidFill>
            <a:srgbClr val="5A6D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B50991-9963-466F-A2D4-A77F488D3436}"/>
              </a:ext>
            </a:extLst>
          </p:cNvPr>
          <p:cNvSpPr/>
          <p:nvPr/>
        </p:nvSpPr>
        <p:spPr>
          <a:xfrm>
            <a:off x="228599" y="6400800"/>
            <a:ext cx="152399" cy="204787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1A0E05-0638-4320-A96B-56D7FC2D8550}"/>
              </a:ext>
            </a:extLst>
          </p:cNvPr>
          <p:cNvSpPr/>
          <p:nvPr/>
        </p:nvSpPr>
        <p:spPr>
          <a:xfrm>
            <a:off x="228599" y="6096000"/>
            <a:ext cx="152399" cy="2286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5B50C2-4780-4186-AD1E-4DD2AC8FD90B}"/>
              </a:ext>
            </a:extLst>
          </p:cNvPr>
          <p:cNvSpPr/>
          <p:nvPr/>
        </p:nvSpPr>
        <p:spPr>
          <a:xfrm>
            <a:off x="228601" y="5791200"/>
            <a:ext cx="152400" cy="228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AC726E-33FF-44DF-87EA-05831EFD4F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9958" y="2083406"/>
            <a:ext cx="5581649" cy="1383693"/>
          </a:xfrm>
        </p:spPr>
        <p:txBody>
          <a:bodyPr>
            <a:normAutofit/>
          </a:bodyPr>
          <a:lstStyle/>
          <a:p>
            <a:r>
              <a:rPr lang="en-IE" dirty="0"/>
              <a:t>Conditional Statements</a:t>
            </a:r>
          </a:p>
        </p:txBody>
      </p:sp>
      <p:pic>
        <p:nvPicPr>
          <p:cNvPr id="5" name="Picture 2" descr="Waterford Institute of Technology Logo">
            <a:extLst>
              <a:ext uri="{FF2B5EF4-FFF2-40B4-BE49-F238E27FC236}">
                <a16:creationId xmlns:a16="http://schemas.microsoft.com/office/drawing/2014/main" id="{DA819866-2DD8-46B1-BE37-B9BA10EEE9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5783163"/>
            <a:ext cx="3801035" cy="854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5103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E" sz="3600" dirty="0"/>
              <a:t>Flow of Control in a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147391"/>
            <a:ext cx="7467600" cy="68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dirty="0"/>
              <a:t>Each program you write will typically have:</a:t>
            </a:r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098793"/>
              </p:ext>
            </p:extLst>
          </p:nvPr>
        </p:nvGraphicFramePr>
        <p:xfrm>
          <a:off x="524706" y="2971800"/>
          <a:ext cx="8399388" cy="1554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5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4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E" sz="2800" b="1" dirty="0"/>
                        <a:t>Sequence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sz="2800" dirty="0"/>
                        <a:t>Things that will be done in a particular order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2800" b="1" dirty="0"/>
                        <a:t>Selection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sz="2800" dirty="0"/>
                        <a:t>Things</a:t>
                      </a:r>
                      <a:r>
                        <a:rPr lang="en-IE" sz="2800" baseline="0" dirty="0"/>
                        <a:t> that will be done conditionally</a:t>
                      </a:r>
                      <a:endParaRPr lang="en-IE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2800" b="1" dirty="0"/>
                        <a:t>Iteration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sz="2800" dirty="0"/>
                        <a:t>Things</a:t>
                      </a:r>
                      <a:r>
                        <a:rPr lang="en-IE" sz="2800" baseline="0" dirty="0"/>
                        <a:t> that will be done repetitively</a:t>
                      </a:r>
                      <a:endParaRPr lang="en-IE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01E983-C8D8-4C55-9465-A37392ABE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7245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E" sz="3600" dirty="0"/>
              <a:t>Flow of Control in a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147391"/>
            <a:ext cx="7467600" cy="68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dirty="0"/>
              <a:t>Each program you write will typically have:</a:t>
            </a:r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601676"/>
              </p:ext>
            </p:extLst>
          </p:nvPr>
        </p:nvGraphicFramePr>
        <p:xfrm>
          <a:off x="524706" y="2971800"/>
          <a:ext cx="8399388" cy="1554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5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4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E" sz="2800" b="1" dirty="0"/>
                        <a:t>Sequence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sz="2800" dirty="0"/>
                        <a:t>Things that will be done in a particular order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2800" b="1" dirty="0">
                          <a:solidFill>
                            <a:srgbClr val="C00000"/>
                          </a:solidFill>
                        </a:rPr>
                        <a:t>Selection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sz="2800" dirty="0">
                          <a:solidFill>
                            <a:srgbClr val="C00000"/>
                          </a:solidFill>
                        </a:rPr>
                        <a:t>Things</a:t>
                      </a:r>
                      <a:r>
                        <a:rPr lang="en-IE" sz="2800" baseline="0" dirty="0">
                          <a:solidFill>
                            <a:srgbClr val="C00000"/>
                          </a:solidFill>
                        </a:rPr>
                        <a:t> that will be done conditionally</a:t>
                      </a:r>
                      <a:endParaRPr lang="en-IE" sz="28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2800" b="1" dirty="0"/>
                        <a:t>Iteration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sz="2800" dirty="0"/>
                        <a:t>Things</a:t>
                      </a:r>
                      <a:r>
                        <a:rPr lang="en-IE" sz="2800" baseline="0" dirty="0"/>
                        <a:t> that will be done repetitively</a:t>
                      </a:r>
                      <a:endParaRPr lang="en-IE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01E983-C8D8-4C55-9465-A37392ABE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9108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E7CD9D8-70F5-42D2-977E-441F146329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Boolean Condition</a:t>
            </a:r>
            <a:endParaRPr lang="en-VI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ADBAC80C-192E-4ABA-8588-E1A59FE9C5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V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CAE6C-1B9C-4046-8297-DA5BDC293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99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5E6C5-4C20-43CF-869D-45CEA7189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Data Types - Boolean </a:t>
            </a:r>
            <a:endParaRPr lang="en-V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94FD3E-CEC3-4610-8CA7-7DB3DC444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A653C0-1750-43CB-812C-000E646F9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90" y="740579"/>
            <a:ext cx="6760639" cy="56157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C97DD1-274C-4BDF-860B-DF5776BB3191}"/>
              </a:ext>
            </a:extLst>
          </p:cNvPr>
          <p:cNvSpPr txBox="1"/>
          <p:nvPr/>
        </p:nvSpPr>
        <p:spPr>
          <a:xfrm>
            <a:off x="5375564" y="3276600"/>
            <a:ext cx="3311236" cy="255454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3200" dirty="0"/>
              <a:t>Do you remember our </a:t>
            </a:r>
            <a:r>
              <a:rPr lang="en-IE" sz="3200" dirty="0">
                <a:solidFill>
                  <a:srgbClr val="FF0000"/>
                </a:solidFill>
              </a:rPr>
              <a:t>Boolean</a:t>
            </a:r>
            <a:r>
              <a:rPr lang="en-IE" sz="3200" dirty="0"/>
              <a:t> data type?  It holds a value of either </a:t>
            </a:r>
            <a:r>
              <a:rPr lang="en-IE" sz="3200" dirty="0">
                <a:solidFill>
                  <a:srgbClr val="5270FF"/>
                </a:solidFill>
              </a:rPr>
              <a:t>True</a:t>
            </a:r>
            <a:r>
              <a:rPr lang="en-IE" sz="3200" dirty="0"/>
              <a:t> or </a:t>
            </a:r>
            <a:r>
              <a:rPr lang="en-IE" sz="3200" dirty="0">
                <a:solidFill>
                  <a:srgbClr val="5270FF"/>
                </a:solidFill>
              </a:rPr>
              <a:t>False.</a:t>
            </a:r>
            <a:endParaRPr lang="en-IE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360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Boolean Condition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A Boolean condition is an expression that evaluates to either </a:t>
            </a:r>
            <a:r>
              <a:rPr lang="en-IE" b="1" dirty="0"/>
              <a:t>True</a:t>
            </a:r>
            <a:r>
              <a:rPr lang="en-IE" dirty="0"/>
              <a:t> or </a:t>
            </a:r>
            <a:r>
              <a:rPr lang="en-IE" b="1" dirty="0"/>
              <a:t>False</a:t>
            </a:r>
            <a:r>
              <a:rPr lang="en-IE" dirty="0"/>
              <a:t> e.g.</a:t>
            </a:r>
          </a:p>
          <a:p>
            <a:pPr marL="0" indent="0">
              <a:buNone/>
            </a:pPr>
            <a:r>
              <a:rPr lang="en-IE" sz="28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</a:t>
            </a:r>
            <a:r>
              <a:rPr lang="en-IE" sz="2800" dirty="0" err="1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mouseX</a:t>
            </a:r>
            <a:r>
              <a:rPr lang="en-IE" sz="28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IE" sz="2800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&lt; 50</a:t>
            </a:r>
          </a:p>
          <a:p>
            <a:pPr marL="0" indent="0">
              <a:buNone/>
            </a:pPr>
            <a:endParaRPr lang="en-IE" sz="2800" dirty="0">
              <a:solidFill>
                <a:schemeClr val="accent4">
                  <a:lumMod val="50000"/>
                </a:schemeClr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IE" dirty="0"/>
              <a:t>A conditional statement evaluates a </a:t>
            </a:r>
            <a:r>
              <a:rPr lang="en-IE" b="1" dirty="0"/>
              <a:t>Boolean condition </a:t>
            </a:r>
            <a:r>
              <a:rPr lang="en-IE" dirty="0"/>
              <a:t>and its result will determine which section of the code is executed.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C5C63-32EC-447D-9A75-ABF70F00F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857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E7CD9D8-70F5-42D2-977E-441F146329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Conditional Statements</a:t>
            </a:r>
            <a:endParaRPr lang="en-VI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ADBAC80C-192E-4ABA-8588-E1A59FE9C5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b="1" dirty="0"/>
              <a:t>if </a:t>
            </a:r>
            <a:r>
              <a:rPr lang="en-GB" dirty="0"/>
              <a:t>statement</a:t>
            </a:r>
            <a:endParaRPr lang="en-V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CAE6C-1B9C-4046-8297-DA5BDC293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804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 statement syntax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609600" y="2590800"/>
            <a:ext cx="825315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eaLnBrk="1" hangingPunct="1"/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Times" pitchFamily="-32" charset="0"/>
              </a:rPr>
              <a:t>if </a:t>
            </a:r>
            <a:r>
              <a:rPr lang="en-US" sz="2400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perform some </a:t>
            </a:r>
            <a:r>
              <a:rPr lang="en-US" sz="2400" b="1" i="1" dirty="0" err="1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boolean</a:t>
            </a:r>
            <a:r>
              <a:rPr lang="en-US" sz="2400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 test</a:t>
            </a:r>
            <a:r>
              <a:rPr lang="en-US" sz="2400" b="1" dirty="0">
                <a:latin typeface="Courier New" pitchFamily="49" charset="0"/>
                <a:cs typeface="Times" pitchFamily="-32" charset="0"/>
              </a:rPr>
              <a:t>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Times" pitchFamily="-32" charset="0"/>
              </a:rPr>
              <a:t>  </a:t>
            </a:r>
            <a:r>
              <a:rPr lang="en-US" sz="2400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statement(s) if the test is true</a:t>
            </a:r>
            <a:endParaRPr lang="en-US" sz="2400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280900" y="-1130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C0C11A93-3F64-45DE-8381-ADFE2CB22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836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 statement syntax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609600" y="2590800"/>
            <a:ext cx="825315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eaLnBrk="1" hangingPunct="1"/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Times" pitchFamily="-32" charset="0"/>
              </a:rPr>
              <a:t>if </a:t>
            </a:r>
            <a:r>
              <a:rPr lang="en-US" sz="2400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perform some </a:t>
            </a:r>
            <a:r>
              <a:rPr lang="en-US" sz="2400" b="1" i="1" dirty="0" err="1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boolean</a:t>
            </a:r>
            <a:r>
              <a:rPr lang="en-US" sz="2400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 test</a:t>
            </a:r>
            <a:r>
              <a:rPr lang="en-US" sz="2400" b="1" dirty="0">
                <a:latin typeface="Courier New" pitchFamily="49" charset="0"/>
                <a:cs typeface="Times" pitchFamily="-32" charset="0"/>
              </a:rPr>
              <a:t>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Times" pitchFamily="-32" charset="0"/>
              </a:rPr>
              <a:t>  </a:t>
            </a:r>
            <a:r>
              <a:rPr lang="en-US" sz="2400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statement(s) if the test is true</a:t>
            </a:r>
            <a:endParaRPr lang="en-US" sz="2400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280900" y="-1130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516923BB-7A83-41B4-8EEC-ADB0407A4A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1674" y="1236354"/>
            <a:ext cx="2475766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eaLnBrk="1" hangingPunct="1"/>
            <a:r>
              <a:rPr lang="en-US" sz="2000" b="1" dirty="0">
                <a:solidFill>
                  <a:srgbClr val="A57133"/>
                </a:solidFill>
              </a:rPr>
              <a:t>:</a:t>
            </a:r>
            <a:r>
              <a:rPr lang="en-US" sz="2000" b="0" dirty="0">
                <a:solidFill>
                  <a:srgbClr val="A57133"/>
                </a:solidFill>
              </a:rPr>
              <a:t> starts an indented suite of statements</a:t>
            </a:r>
          </a:p>
        </p:txBody>
      </p:sp>
      <p:sp>
        <p:nvSpPr>
          <p:cNvPr id="6" name="Line 9">
            <a:extLst>
              <a:ext uri="{FF2B5EF4-FFF2-40B4-BE49-F238E27FC236}">
                <a16:creationId xmlns:a16="http://schemas.microsoft.com/office/drawing/2014/main" id="{7F692376-8AAC-4798-A6FF-7C65F6D04B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14400" y="1981200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9FD1C555-D89D-44CD-B630-B583C437C3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43600" y="1905000"/>
            <a:ext cx="304800" cy="83099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A23732B0-A819-438A-8368-9246FF1D0F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643437"/>
            <a:ext cx="15716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b="0" dirty="0">
                <a:solidFill>
                  <a:srgbClr val="A57133"/>
                </a:solidFill>
              </a:rPr>
              <a:t>‘if’ keyword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36B2752F-C931-4EDA-BD07-1DD3EFB77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014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9" grpId="0" animBg="1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 statement syntax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609600" y="2590800"/>
            <a:ext cx="825315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eaLnBrk="1" hangingPunct="1"/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Times" pitchFamily="-32" charset="0"/>
              </a:rPr>
              <a:t>if </a:t>
            </a:r>
            <a:r>
              <a:rPr lang="en-US" sz="2400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perform some </a:t>
            </a:r>
            <a:r>
              <a:rPr lang="en-US" sz="2400" b="1" i="1" dirty="0" err="1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boolean</a:t>
            </a:r>
            <a:r>
              <a:rPr lang="en-US" sz="2400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 test</a:t>
            </a:r>
            <a:r>
              <a:rPr lang="en-US" sz="2400" b="1" dirty="0">
                <a:latin typeface="Courier New" pitchFamily="49" charset="0"/>
                <a:cs typeface="Times" pitchFamily="-32" charset="0"/>
              </a:rPr>
              <a:t>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Times" pitchFamily="-32" charset="0"/>
              </a:rPr>
              <a:t>  </a:t>
            </a:r>
            <a:r>
              <a:rPr lang="en-US" sz="2400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statement(s) if the test is true</a:t>
            </a:r>
            <a:endParaRPr lang="en-US" sz="2400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280900" y="-1130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/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265053F4-DC35-4BE5-87E2-A77FA85E6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60" y="1447800"/>
            <a:ext cx="3810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/>
            <a:r>
              <a:rPr lang="en-US" sz="2000" b="0" dirty="0" err="1">
                <a:solidFill>
                  <a:srgbClr val="A57133"/>
                </a:solidFill>
              </a:rPr>
              <a:t>boolean</a:t>
            </a:r>
            <a:r>
              <a:rPr lang="en-US" sz="2000" b="0" dirty="0">
                <a:solidFill>
                  <a:srgbClr val="A57133"/>
                </a:solidFill>
              </a:rPr>
              <a:t> condition to be tested</a:t>
            </a:r>
            <a:endParaRPr lang="en-US" sz="2000" b="0" dirty="0">
              <a:solidFill>
                <a:srgbClr val="A57133"/>
              </a:solidFill>
              <a:latin typeface="Times New Roman" pitchFamily="18" charset="0"/>
            </a:endParaRPr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DA6FB99C-C17F-4C1D-838E-EBF166A6C7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4260" y="1752600"/>
            <a:ext cx="1905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3" name="Rectangle 17">
            <a:extLst>
              <a:ext uri="{FF2B5EF4-FFF2-40B4-BE49-F238E27FC236}">
                <a16:creationId xmlns:a16="http://schemas.microsoft.com/office/drawing/2014/main" id="{FD8D21B5-8037-46EE-BAEB-549F6A672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110" y="2632254"/>
            <a:ext cx="4705290" cy="3476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4BD0B946-899C-4215-B929-B33520F22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185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 statement syntax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609600" y="2590800"/>
            <a:ext cx="825315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eaLnBrk="1" hangingPunct="1"/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Times" pitchFamily="-32" charset="0"/>
              </a:rPr>
              <a:t>if </a:t>
            </a:r>
            <a:r>
              <a:rPr lang="en-US" sz="2400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perform some </a:t>
            </a:r>
            <a:r>
              <a:rPr lang="en-US" sz="2400" b="1" i="1" dirty="0" err="1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boolean</a:t>
            </a:r>
            <a:r>
              <a:rPr lang="en-US" sz="2400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 test</a:t>
            </a:r>
            <a:r>
              <a:rPr lang="en-US" sz="2400" b="1" dirty="0">
                <a:latin typeface="Courier New" pitchFamily="49" charset="0"/>
                <a:cs typeface="Times" pitchFamily="-32" charset="0"/>
              </a:rPr>
              <a:t>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Times" pitchFamily="-32" charset="0"/>
              </a:rPr>
              <a:t>  </a:t>
            </a:r>
            <a:r>
              <a:rPr lang="en-US" sz="2400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statement(s) if the test is true</a:t>
            </a:r>
            <a:endParaRPr lang="en-US" sz="2400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280900" y="-1130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/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83E83582-029D-43D0-9692-056AE65D38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5255" y="1815613"/>
            <a:ext cx="296376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b="0" dirty="0">
                <a:solidFill>
                  <a:srgbClr val="A57133"/>
                </a:solidFill>
              </a:rPr>
              <a:t>actions if condition is </a:t>
            </a:r>
            <a:r>
              <a:rPr lang="en-US" sz="2000" b="1" dirty="0">
                <a:solidFill>
                  <a:srgbClr val="A57133"/>
                </a:solidFill>
              </a:rPr>
              <a:t>true.</a:t>
            </a:r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2FAFBA02-9E00-4D73-B378-F80D3A8E12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03455" y="2198200"/>
            <a:ext cx="533400" cy="785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3" name="Rectangle 17">
            <a:extLst>
              <a:ext uri="{FF2B5EF4-FFF2-40B4-BE49-F238E27FC236}">
                <a16:creationId xmlns:a16="http://schemas.microsoft.com/office/drawing/2014/main" id="{C8C2845A-BAE9-4360-AB08-CE301500E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3010779"/>
            <a:ext cx="7734300" cy="3476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D3E6CA5-6A14-4226-AC06-03D256B6D1FA}"/>
              </a:ext>
            </a:extLst>
          </p:cNvPr>
          <p:cNvSpPr/>
          <p:nvPr/>
        </p:nvSpPr>
        <p:spPr>
          <a:xfrm>
            <a:off x="838200" y="4541589"/>
            <a:ext cx="7848600" cy="162157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/>
              <a:t>NOTE: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Python relies on indentation to define scope in the code.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Indentation is a whitespace at the beginning of the line.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We saw this earlier when writing functions.  </a:t>
            </a:r>
            <a:endParaRPr lang="en-VI" sz="2400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FF9465EB-84E8-42D5-8C3B-6C0ED0FE8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141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28D223-269D-4CE5-BD4E-FEBBDC0E7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66E226-4AF9-4651-85B4-90ECF4592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 statement example 1</a:t>
            </a:r>
            <a:endParaRPr lang="en-VI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1A7785-8D02-498C-AD32-2A355C32DD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03" b="37294"/>
          <a:stretch/>
        </p:blipFill>
        <p:spPr>
          <a:xfrm>
            <a:off x="685800" y="838200"/>
            <a:ext cx="5486400" cy="3124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CDF5D2-C32F-4173-9AD0-F180AB9959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726" y="4557608"/>
            <a:ext cx="1257475" cy="14765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1AF5F7-2CF3-4BAB-8BA2-0275A20A44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3811" y="4557609"/>
            <a:ext cx="1257475" cy="1476581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6387B1B6-6454-4AF0-BA9F-094C0D735735}"/>
              </a:ext>
            </a:extLst>
          </p:cNvPr>
          <p:cNvSpPr/>
          <p:nvPr/>
        </p:nvSpPr>
        <p:spPr>
          <a:xfrm>
            <a:off x="685799" y="4648200"/>
            <a:ext cx="2402601" cy="1295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When the program starts…</a:t>
            </a:r>
            <a:endParaRPr lang="en-VI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6904400-F2D4-4F75-BEB0-FDB81E4EFCE9}"/>
              </a:ext>
            </a:extLst>
          </p:cNvPr>
          <p:cNvSpPr/>
          <p:nvPr/>
        </p:nvSpPr>
        <p:spPr>
          <a:xfrm>
            <a:off x="4747759" y="4648199"/>
            <a:ext cx="2402601" cy="1295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When </a:t>
            </a:r>
            <a:r>
              <a:rPr lang="en-GB" dirty="0" err="1">
                <a:solidFill>
                  <a:srgbClr val="FFFF00"/>
                </a:solidFill>
              </a:rPr>
              <a:t>mouseX</a:t>
            </a:r>
            <a:r>
              <a:rPr lang="en-GB" dirty="0">
                <a:solidFill>
                  <a:srgbClr val="FFFF00"/>
                </a:solidFill>
              </a:rPr>
              <a:t> &gt; 50</a:t>
            </a:r>
            <a:endParaRPr lang="en-VI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196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E7CD9D8-70F5-42D2-977E-441F146329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Relational Operators</a:t>
            </a:r>
            <a:endParaRPr lang="en-VI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ADBAC80C-192E-4ABA-8588-E1A59FE9C5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Used for comparing values</a:t>
            </a:r>
            <a:endParaRPr lang="en-V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CAE6C-1B9C-4046-8297-DA5BDC293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679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Relational Operators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320272"/>
              </p:ext>
            </p:extLst>
          </p:nvPr>
        </p:nvGraphicFramePr>
        <p:xfrm>
          <a:off x="990600" y="1154308"/>
          <a:ext cx="7358798" cy="380135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81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1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59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E" sz="2400" b="1" dirty="0">
                          <a:effectLst/>
                        </a:rPr>
                        <a:t>Operator</a:t>
                      </a:r>
                    </a:p>
                  </a:txBody>
                  <a:tcPr marL="25558" marR="25558" marT="25558" marB="2555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E" sz="2400" b="1" dirty="0">
                          <a:effectLst/>
                        </a:rPr>
                        <a:t>Syntax</a:t>
                      </a:r>
                    </a:p>
                  </a:txBody>
                  <a:tcPr marL="25558" marR="25558" marT="25558" marB="2555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E" sz="2400" b="1" dirty="0">
                          <a:effectLst/>
                        </a:rPr>
                        <a:t>Returns </a:t>
                      </a:r>
                      <a:r>
                        <a:rPr lang="en-IE" sz="2400" b="1" dirty="0">
                          <a:solidFill>
                            <a:srgbClr val="C00000"/>
                          </a:solidFill>
                          <a:effectLst/>
                        </a:rPr>
                        <a:t>true</a:t>
                      </a:r>
                      <a:r>
                        <a:rPr lang="en-IE" sz="2400" b="1" dirty="0">
                          <a:effectLst/>
                        </a:rPr>
                        <a:t> if…</a:t>
                      </a:r>
                    </a:p>
                  </a:txBody>
                  <a:tcPr marL="25558" marR="25558" marT="25558" marB="2555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&gt;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x </a:t>
                      </a:r>
                      <a:r>
                        <a:rPr lang="en-IE" sz="2400" b="1" dirty="0">
                          <a:effectLst/>
                        </a:rPr>
                        <a:t>&gt;</a:t>
                      </a:r>
                      <a:r>
                        <a:rPr lang="en-IE" sz="2400" dirty="0">
                          <a:effectLst/>
                        </a:rPr>
                        <a:t> y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nl-NL" sz="2400" dirty="0">
                          <a:effectLst/>
                        </a:rPr>
                        <a:t>x is </a:t>
                      </a:r>
                      <a:r>
                        <a:rPr lang="nl-NL" sz="2400" b="1" dirty="0">
                          <a:effectLst/>
                        </a:rPr>
                        <a:t>greater</a:t>
                      </a:r>
                      <a:r>
                        <a:rPr lang="nl-NL" sz="2400" dirty="0">
                          <a:effectLst/>
                        </a:rPr>
                        <a:t> than y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&gt;=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x </a:t>
                      </a:r>
                      <a:r>
                        <a:rPr lang="en-IE" sz="2400" b="1" dirty="0">
                          <a:effectLst/>
                        </a:rPr>
                        <a:t>&gt;=</a:t>
                      </a:r>
                      <a:r>
                        <a:rPr lang="en-IE" sz="2400" dirty="0">
                          <a:effectLst/>
                        </a:rPr>
                        <a:t> y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x is </a:t>
                      </a:r>
                      <a:r>
                        <a:rPr lang="en-IE" sz="2400" b="1" dirty="0">
                          <a:effectLst/>
                        </a:rPr>
                        <a:t>greater than or equal</a:t>
                      </a:r>
                      <a:r>
                        <a:rPr lang="en-IE" sz="2400" dirty="0">
                          <a:effectLst/>
                        </a:rPr>
                        <a:t> to y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&lt;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x </a:t>
                      </a:r>
                      <a:r>
                        <a:rPr lang="en-IE" sz="2400" b="1" dirty="0">
                          <a:effectLst/>
                        </a:rPr>
                        <a:t>&lt;</a:t>
                      </a:r>
                      <a:r>
                        <a:rPr lang="en-IE" sz="2400" dirty="0">
                          <a:effectLst/>
                        </a:rPr>
                        <a:t> y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x is </a:t>
                      </a:r>
                      <a:r>
                        <a:rPr lang="en-IE" sz="2400" b="1" dirty="0">
                          <a:effectLst/>
                        </a:rPr>
                        <a:t>less</a:t>
                      </a:r>
                      <a:r>
                        <a:rPr lang="en-IE" sz="2400" dirty="0">
                          <a:effectLst/>
                        </a:rPr>
                        <a:t> than y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&lt;=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x </a:t>
                      </a:r>
                      <a:r>
                        <a:rPr lang="en-IE" sz="2400" b="1" dirty="0">
                          <a:effectLst/>
                        </a:rPr>
                        <a:t>&lt;=</a:t>
                      </a:r>
                      <a:r>
                        <a:rPr lang="en-IE" sz="2400" dirty="0">
                          <a:effectLst/>
                        </a:rPr>
                        <a:t> y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x is </a:t>
                      </a:r>
                      <a:r>
                        <a:rPr lang="en-IE" sz="2400" b="1" dirty="0">
                          <a:effectLst/>
                        </a:rPr>
                        <a:t>less than or equal </a:t>
                      </a:r>
                      <a:r>
                        <a:rPr lang="en-IE" sz="2400" dirty="0">
                          <a:effectLst/>
                        </a:rPr>
                        <a:t>to y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==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x </a:t>
                      </a:r>
                      <a:r>
                        <a:rPr lang="en-IE" sz="2400" b="1" dirty="0">
                          <a:effectLst/>
                        </a:rPr>
                        <a:t>==</a:t>
                      </a:r>
                      <a:r>
                        <a:rPr lang="en-IE" sz="2400" dirty="0">
                          <a:effectLst/>
                        </a:rPr>
                        <a:t> y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x and y are </a:t>
                      </a:r>
                      <a:r>
                        <a:rPr lang="en-IE" sz="2400" b="1" dirty="0">
                          <a:effectLst/>
                        </a:rPr>
                        <a:t>equal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!=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x </a:t>
                      </a:r>
                      <a:r>
                        <a:rPr lang="en-IE" sz="2400" b="1" dirty="0">
                          <a:effectLst/>
                        </a:rPr>
                        <a:t>!=</a:t>
                      </a:r>
                      <a:r>
                        <a:rPr lang="en-IE" sz="2400" dirty="0">
                          <a:effectLst/>
                        </a:rPr>
                        <a:t> y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x and y are </a:t>
                      </a:r>
                      <a:r>
                        <a:rPr lang="en-IE" sz="2400" b="1" dirty="0">
                          <a:effectLst/>
                        </a:rPr>
                        <a:t>not equal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177741" y="5464475"/>
            <a:ext cx="55744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=</a:t>
            </a:r>
            <a:r>
              <a:rPr lang="en-GB" dirty="0">
                <a:solidFill>
                  <a:srgbClr val="C00000"/>
                </a:solidFill>
              </a:rPr>
              <a:t> is an assignment operator and doesn’t test for equality. </a:t>
            </a:r>
          </a:p>
          <a:p>
            <a:r>
              <a:rPr lang="en-GB" b="1" dirty="0">
                <a:solidFill>
                  <a:srgbClr val="C00000"/>
                </a:solidFill>
              </a:rPr>
              <a:t>==</a:t>
            </a:r>
            <a:r>
              <a:rPr lang="en-GB" dirty="0">
                <a:solidFill>
                  <a:srgbClr val="C00000"/>
                </a:solidFill>
              </a:rPr>
              <a:t> is used to test for equality.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B413441-B1E7-4A1A-9F7F-8C7025C14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8" name="Graphic 7" descr="Warning">
            <a:extLst>
              <a:ext uri="{FF2B5EF4-FFF2-40B4-BE49-F238E27FC236}">
                <a16:creationId xmlns:a16="http://schemas.microsoft.com/office/drawing/2014/main" id="{EE59EC3F-821E-42DF-85C1-0C8D6653F1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63341" y="533044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79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if statement 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1472" y="1257727"/>
            <a:ext cx="7775484" cy="8892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sz="2800" dirty="0"/>
              <a:t>If the x-coordinate of the mouse pointer is on the:</a:t>
            </a:r>
          </a:p>
          <a:p>
            <a:endParaRPr lang="en-IE" dirty="0"/>
          </a:p>
          <a:p>
            <a:endParaRPr lang="en-I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B5A67C-DD3D-4892-81C4-2E566F9C2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525" y="4673392"/>
            <a:ext cx="1257475" cy="14765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D55B35-7490-4BB5-889F-D64A31431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673393"/>
            <a:ext cx="1257475" cy="14765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C41AE51-00CC-42A4-A866-28704A4176B9}"/>
              </a:ext>
            </a:extLst>
          </p:cNvPr>
          <p:cNvSpPr txBox="1"/>
          <p:nvPr/>
        </p:nvSpPr>
        <p:spPr>
          <a:xfrm>
            <a:off x="5029200" y="2625333"/>
            <a:ext cx="2819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400" b="1" dirty="0"/>
              <a:t>…right</a:t>
            </a:r>
            <a:r>
              <a:rPr lang="en-IE" sz="2400" dirty="0"/>
              <a:t> half of the display window, draw a rectangle on the right hand side.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9A3E11-9401-4CEC-9373-67EEB1BD2B25}"/>
              </a:ext>
            </a:extLst>
          </p:cNvPr>
          <p:cNvSpPr txBox="1"/>
          <p:nvPr/>
        </p:nvSpPr>
        <p:spPr>
          <a:xfrm>
            <a:off x="914400" y="2630003"/>
            <a:ext cx="2819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400" b="1" dirty="0"/>
              <a:t>…left</a:t>
            </a:r>
            <a:r>
              <a:rPr lang="en-IE" sz="2400" dirty="0"/>
              <a:t> half of the display window, draw a rectangle on the left hand side.  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CAD74B2E-C4B2-49D2-AFCF-3F820973422E}"/>
              </a:ext>
            </a:extLst>
          </p:cNvPr>
          <p:cNvCxnSpPr/>
          <p:nvPr/>
        </p:nvCxnSpPr>
        <p:spPr>
          <a:xfrm>
            <a:off x="1873876" y="4421082"/>
            <a:ext cx="1333325" cy="990600"/>
          </a:xfrm>
          <a:prstGeom prst="bentConnector3">
            <a:avLst>
              <a:gd name="adj1" fmla="val -87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ABB5AAC8-9F67-451E-AF51-04E337B3AEEB}"/>
              </a:ext>
            </a:extLst>
          </p:cNvPr>
          <p:cNvCxnSpPr/>
          <p:nvPr/>
        </p:nvCxnSpPr>
        <p:spPr>
          <a:xfrm>
            <a:off x="5903710" y="4421082"/>
            <a:ext cx="1333325" cy="990600"/>
          </a:xfrm>
          <a:prstGeom prst="bentConnector3">
            <a:avLst>
              <a:gd name="adj1" fmla="val -87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468315B5-0732-4EBA-8754-401058440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058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28D223-269D-4CE5-BD4E-FEBBDC0E7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66E226-4AF9-4651-85B4-90ECF4592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 statement example 2</a:t>
            </a:r>
            <a:endParaRPr lang="en-VI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2C2DA45-B2B5-4966-BEDA-D26A07863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525" y="4673392"/>
            <a:ext cx="1257475" cy="14765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DDDEEFE-2DA2-4726-8DEE-9AF448018A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673393"/>
            <a:ext cx="1257475" cy="14765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9FB68825-0AA9-4049-969D-492E2EDB9BE6}"/>
              </a:ext>
            </a:extLst>
          </p:cNvPr>
          <p:cNvSpPr/>
          <p:nvPr/>
        </p:nvSpPr>
        <p:spPr>
          <a:xfrm>
            <a:off x="4912599" y="4854574"/>
            <a:ext cx="2402601" cy="1295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When </a:t>
            </a:r>
            <a:r>
              <a:rPr lang="en-GB" dirty="0" err="1">
                <a:solidFill>
                  <a:srgbClr val="FFFF00"/>
                </a:solidFill>
              </a:rPr>
              <a:t>mouseX</a:t>
            </a:r>
            <a:r>
              <a:rPr lang="en-GB" dirty="0">
                <a:solidFill>
                  <a:srgbClr val="FFFF00"/>
                </a:solidFill>
              </a:rPr>
              <a:t> &gt; 50</a:t>
            </a:r>
            <a:endParaRPr lang="en-VI" dirty="0">
              <a:solidFill>
                <a:srgbClr val="FFFF00"/>
              </a:solidFill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9C86AB8-7A73-407E-B1F0-DA89FC921BB6}"/>
              </a:ext>
            </a:extLst>
          </p:cNvPr>
          <p:cNvSpPr/>
          <p:nvPr/>
        </p:nvSpPr>
        <p:spPr>
          <a:xfrm>
            <a:off x="741625" y="4854574"/>
            <a:ext cx="2458775" cy="1295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When </a:t>
            </a:r>
            <a:r>
              <a:rPr lang="en-GB" dirty="0" err="1">
                <a:solidFill>
                  <a:srgbClr val="FFFF00"/>
                </a:solidFill>
              </a:rPr>
              <a:t>mouseX</a:t>
            </a:r>
            <a:r>
              <a:rPr lang="en-GB" dirty="0">
                <a:solidFill>
                  <a:srgbClr val="FFFF00"/>
                </a:solidFill>
              </a:rPr>
              <a:t> &lt;= 50</a:t>
            </a:r>
            <a:endParaRPr lang="en-VI" dirty="0">
              <a:solidFill>
                <a:srgbClr val="FFFF00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0522EF6-D9C4-4584-8DA2-6C0F32D8DD9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" r="351" b="34644"/>
          <a:stretch/>
        </p:blipFill>
        <p:spPr>
          <a:xfrm>
            <a:off x="741625" y="783051"/>
            <a:ext cx="5505836" cy="35674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1838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E7CD9D8-70F5-42D2-977E-441F146329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Conditional Statements</a:t>
            </a:r>
            <a:endParaRPr lang="en-VI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ADBAC80C-192E-4ABA-8588-E1A59FE9C5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if-else syntax</a:t>
            </a:r>
            <a:endParaRPr lang="en-V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CAE6C-1B9C-4046-8297-DA5BDC293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053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if-else syntax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609600" y="2590800"/>
            <a:ext cx="8253156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eaLnBrk="1" hangingPunct="1"/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Times" pitchFamily="-32" charset="0"/>
              </a:rPr>
              <a:t>if </a:t>
            </a:r>
            <a:r>
              <a:rPr lang="en-US" sz="2400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perform some </a:t>
            </a:r>
            <a:r>
              <a:rPr lang="en-US" sz="2400" b="1" i="1" dirty="0" err="1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boolean</a:t>
            </a:r>
            <a:r>
              <a:rPr lang="en-US" sz="2400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 test</a:t>
            </a:r>
            <a:r>
              <a:rPr lang="en-US" sz="2400" b="1" dirty="0">
                <a:latin typeface="Courier New" pitchFamily="49" charset="0"/>
                <a:cs typeface="Times" pitchFamily="-32" charset="0"/>
              </a:rPr>
              <a:t>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Times" pitchFamily="-32" charset="0"/>
              </a:rPr>
              <a:t>  </a:t>
            </a:r>
            <a:r>
              <a:rPr lang="en-US" sz="2400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statement(s) if the test is true</a:t>
            </a:r>
          </a:p>
          <a:p>
            <a:pPr algn="l" eaLnBrk="1" hangingPunct="1"/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Times" pitchFamily="-32" charset="0"/>
              </a:rPr>
              <a:t>else</a:t>
            </a:r>
            <a:r>
              <a:rPr lang="en-US" sz="2400" b="1" dirty="0">
                <a:latin typeface="Courier New" pitchFamily="49" charset="0"/>
                <a:cs typeface="Times" pitchFamily="-32" charset="0"/>
              </a:rPr>
              <a:t>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Times" pitchFamily="-32" charset="0"/>
              </a:rPr>
              <a:t>  </a:t>
            </a:r>
            <a:r>
              <a:rPr lang="en-US" sz="2400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statement(s) if the test is false</a:t>
            </a:r>
            <a:endParaRPr lang="en-US" sz="2400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endParaRPr lang="en-US" sz="2400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280900" y="-1130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/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265053F4-DC35-4BE5-87E2-A77FA85E6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1510" y="1100388"/>
            <a:ext cx="2162046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1" hangingPunct="1"/>
            <a:r>
              <a:rPr lang="en-US" sz="2000" b="0" dirty="0" err="1">
                <a:solidFill>
                  <a:srgbClr val="A57133"/>
                </a:solidFill>
              </a:rPr>
              <a:t>boolean</a:t>
            </a:r>
            <a:r>
              <a:rPr lang="en-US" sz="2000" b="0" dirty="0">
                <a:solidFill>
                  <a:srgbClr val="A57133"/>
                </a:solidFill>
              </a:rPr>
              <a:t> condition to be tested</a:t>
            </a:r>
            <a:endParaRPr lang="en-US" sz="2000" b="0" dirty="0">
              <a:solidFill>
                <a:srgbClr val="A57133"/>
              </a:solidFill>
              <a:latin typeface="Times New Roman" pitchFamily="18" charset="0"/>
            </a:endParaRPr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DA6FB99C-C17F-4C1D-838E-EBF166A6C7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81738" y="1782840"/>
            <a:ext cx="433062" cy="88416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4BD0B946-899C-4215-B929-B33520F22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AEB9C4CB-DEFB-4A95-8CD4-B79131C95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242" y="1267314"/>
            <a:ext cx="2475766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eaLnBrk="1" hangingPunct="1"/>
            <a:r>
              <a:rPr lang="en-US" sz="2000" b="1" dirty="0">
                <a:solidFill>
                  <a:srgbClr val="A57133"/>
                </a:solidFill>
              </a:rPr>
              <a:t>:</a:t>
            </a:r>
            <a:r>
              <a:rPr lang="en-US" sz="2000" b="0" dirty="0">
                <a:solidFill>
                  <a:srgbClr val="A57133"/>
                </a:solidFill>
              </a:rPr>
              <a:t> starts an indented suite of statements</a:t>
            </a:r>
          </a:p>
        </p:txBody>
      </p:sp>
      <p:sp>
        <p:nvSpPr>
          <p:cNvPr id="10" name="Line 9">
            <a:extLst>
              <a:ext uri="{FF2B5EF4-FFF2-40B4-BE49-F238E27FC236}">
                <a16:creationId xmlns:a16="http://schemas.microsoft.com/office/drawing/2014/main" id="{B4E3F48A-5D7D-4AEC-A044-6EF164D39C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14400" y="1981200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5" name="Line 9">
            <a:extLst>
              <a:ext uri="{FF2B5EF4-FFF2-40B4-BE49-F238E27FC236}">
                <a16:creationId xmlns:a16="http://schemas.microsoft.com/office/drawing/2014/main" id="{28D4E725-4B6C-480E-9094-BD377F0768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43600" y="1997380"/>
            <a:ext cx="657294" cy="73861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6" name="Text Box 4">
            <a:extLst>
              <a:ext uri="{FF2B5EF4-FFF2-40B4-BE49-F238E27FC236}">
                <a16:creationId xmlns:a16="http://schemas.microsoft.com/office/drawing/2014/main" id="{30AA0849-72D6-46F0-A720-FD62FFFDD6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966" y="1575090"/>
            <a:ext cx="144780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eaLnBrk="1" hangingPunct="1"/>
            <a:r>
              <a:rPr lang="en-US" sz="2000" b="0" dirty="0">
                <a:solidFill>
                  <a:srgbClr val="A57133"/>
                </a:solidFill>
              </a:rPr>
              <a:t>‘if’ keyword</a:t>
            </a:r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0B32D455-31FB-4FA1-9103-44FB9FE75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110" y="2632254"/>
            <a:ext cx="4705290" cy="3476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86188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9" grpId="0"/>
      <p:bldP spid="10" grpId="0" animBg="1"/>
      <p:bldP spid="15" grpId="0" animBg="1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if-else syntax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609600" y="2590800"/>
            <a:ext cx="8253156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eaLnBrk="1" hangingPunct="1"/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Times" pitchFamily="-32" charset="0"/>
              </a:rPr>
              <a:t>if </a:t>
            </a:r>
            <a:r>
              <a:rPr lang="en-US" sz="2400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perform some </a:t>
            </a:r>
            <a:r>
              <a:rPr lang="en-US" sz="2400" b="1" i="1" dirty="0" err="1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boolean</a:t>
            </a:r>
            <a:r>
              <a:rPr lang="en-US" sz="2400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 test</a:t>
            </a:r>
            <a:r>
              <a:rPr lang="en-US" sz="2400" b="1" dirty="0">
                <a:latin typeface="Courier New" pitchFamily="49" charset="0"/>
                <a:cs typeface="Times" pitchFamily="-32" charset="0"/>
              </a:rPr>
              <a:t>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Times" pitchFamily="-32" charset="0"/>
              </a:rPr>
              <a:t>  </a:t>
            </a:r>
            <a:r>
              <a:rPr lang="en-US" sz="2400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statement(s) if the test is true</a:t>
            </a:r>
          </a:p>
          <a:p>
            <a:pPr algn="l" eaLnBrk="1" hangingPunct="1"/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Times" pitchFamily="-32" charset="0"/>
              </a:rPr>
              <a:t>else</a:t>
            </a:r>
            <a:r>
              <a:rPr lang="en-US" sz="2400" b="1" dirty="0">
                <a:latin typeface="Courier New" pitchFamily="49" charset="0"/>
                <a:cs typeface="Times" pitchFamily="-32" charset="0"/>
              </a:rPr>
              <a:t>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Times" pitchFamily="-32" charset="0"/>
              </a:rPr>
              <a:t>  </a:t>
            </a:r>
            <a:r>
              <a:rPr lang="en-US" sz="2400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statement(s) if the test is false</a:t>
            </a:r>
            <a:endParaRPr lang="en-US" sz="2400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endParaRPr lang="en-US" sz="2400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280900" y="-1130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4BD0B946-899C-4215-B929-B33520F22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3" name="Text Box 3">
            <a:extLst>
              <a:ext uri="{FF2B5EF4-FFF2-40B4-BE49-F238E27FC236}">
                <a16:creationId xmlns:a16="http://schemas.microsoft.com/office/drawing/2014/main" id="{847A94A7-C1DE-4A06-B4FB-E9695960D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590800"/>
            <a:ext cx="825315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eaLnBrk="1" hangingPunct="1"/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Times" pitchFamily="-32" charset="0"/>
              </a:rPr>
              <a:t>if </a:t>
            </a:r>
            <a:r>
              <a:rPr lang="en-US" sz="2400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perform some </a:t>
            </a:r>
            <a:r>
              <a:rPr lang="en-US" sz="2400" b="1" i="1" dirty="0" err="1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boolean</a:t>
            </a:r>
            <a:r>
              <a:rPr lang="en-US" sz="2400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 test</a:t>
            </a:r>
            <a:r>
              <a:rPr lang="en-US" sz="2400" b="1" dirty="0">
                <a:latin typeface="Courier New" pitchFamily="49" charset="0"/>
                <a:cs typeface="Times" pitchFamily="-32" charset="0"/>
              </a:rPr>
              <a:t>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Times" pitchFamily="-32" charset="0"/>
              </a:rPr>
              <a:t>  </a:t>
            </a:r>
            <a:r>
              <a:rPr lang="en-US" sz="2400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statement(s) if the test is true</a:t>
            </a:r>
            <a:endParaRPr lang="en-US" sz="2400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</p:txBody>
      </p:sp>
      <p:sp>
        <p:nvSpPr>
          <p:cNvPr id="17" name="Text Box 6">
            <a:extLst>
              <a:ext uri="{FF2B5EF4-FFF2-40B4-BE49-F238E27FC236}">
                <a16:creationId xmlns:a16="http://schemas.microsoft.com/office/drawing/2014/main" id="{EEA20196-CFE9-4ADF-A999-5CCF199D8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5255" y="1815613"/>
            <a:ext cx="296376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b="0" dirty="0">
                <a:solidFill>
                  <a:srgbClr val="A57133"/>
                </a:solidFill>
              </a:rPr>
              <a:t>actions if condition is </a:t>
            </a:r>
            <a:r>
              <a:rPr lang="en-US" sz="2000" b="1" dirty="0">
                <a:solidFill>
                  <a:srgbClr val="A57133"/>
                </a:solidFill>
              </a:rPr>
              <a:t>true.</a:t>
            </a:r>
          </a:p>
        </p:txBody>
      </p:sp>
      <p:sp>
        <p:nvSpPr>
          <p:cNvPr id="18" name="Line 12">
            <a:extLst>
              <a:ext uri="{FF2B5EF4-FFF2-40B4-BE49-F238E27FC236}">
                <a16:creationId xmlns:a16="http://schemas.microsoft.com/office/drawing/2014/main" id="{3B9E32F9-F7AE-4F25-A83C-AB86D0E614D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03455" y="2198200"/>
            <a:ext cx="533400" cy="785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CA2A7A22-DC6A-4CB4-B61F-3F07D8B5C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3010779"/>
            <a:ext cx="7734300" cy="3476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1255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if-else syntax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609600" y="2590800"/>
            <a:ext cx="8253156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eaLnBrk="1" hangingPunct="1"/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Times" pitchFamily="-32" charset="0"/>
              </a:rPr>
              <a:t>if </a:t>
            </a:r>
            <a:r>
              <a:rPr lang="en-US" sz="2400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perform some </a:t>
            </a:r>
            <a:r>
              <a:rPr lang="en-US" sz="2400" b="1" i="1" dirty="0" err="1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boolean</a:t>
            </a:r>
            <a:r>
              <a:rPr lang="en-US" sz="2400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 test</a:t>
            </a:r>
            <a:r>
              <a:rPr lang="en-US" sz="2400" b="1" dirty="0">
                <a:latin typeface="Courier New" pitchFamily="49" charset="0"/>
                <a:cs typeface="Times" pitchFamily="-32" charset="0"/>
              </a:rPr>
              <a:t>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Times" pitchFamily="-32" charset="0"/>
              </a:rPr>
              <a:t>  </a:t>
            </a:r>
            <a:r>
              <a:rPr lang="en-US" sz="2400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statement(s) if the test is true</a:t>
            </a:r>
          </a:p>
          <a:p>
            <a:pPr algn="l" eaLnBrk="1" hangingPunct="1"/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Times" pitchFamily="-32" charset="0"/>
              </a:rPr>
              <a:t>else</a:t>
            </a:r>
            <a:r>
              <a:rPr lang="en-US" sz="2400" b="1" dirty="0">
                <a:latin typeface="Courier New" pitchFamily="49" charset="0"/>
                <a:cs typeface="Times" pitchFamily="-32" charset="0"/>
              </a:rPr>
              <a:t>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Times" pitchFamily="-32" charset="0"/>
              </a:rPr>
              <a:t>  </a:t>
            </a:r>
            <a:r>
              <a:rPr lang="en-US" sz="2400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statement(s) if the test is false</a:t>
            </a:r>
            <a:endParaRPr lang="en-US" sz="2400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endParaRPr lang="en-US" sz="2400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280900" y="-1130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4BD0B946-899C-4215-B929-B33520F22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8" name="Text Box 8">
            <a:extLst>
              <a:ext uri="{FF2B5EF4-FFF2-40B4-BE49-F238E27FC236}">
                <a16:creationId xmlns:a16="http://schemas.microsoft.com/office/drawing/2014/main" id="{7EA4079D-E061-4D4A-92EF-9D3DB0B9A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107" y="4718486"/>
            <a:ext cx="1086293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eaLnBrk="1" hangingPunct="1"/>
            <a:r>
              <a:rPr lang="en-US" sz="2000" b="0" dirty="0">
                <a:solidFill>
                  <a:srgbClr val="A57133"/>
                </a:solidFill>
              </a:rPr>
              <a:t>‘else’ keyword</a:t>
            </a:r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id="{9E87DD41-453B-435B-8161-6A059C33862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38200" y="3695701"/>
            <a:ext cx="152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 dirty="0"/>
          </a:p>
        </p:txBody>
      </p:sp>
      <p:sp>
        <p:nvSpPr>
          <p:cNvPr id="22" name="Text Box 4">
            <a:extLst>
              <a:ext uri="{FF2B5EF4-FFF2-40B4-BE49-F238E27FC236}">
                <a16:creationId xmlns:a16="http://schemas.microsoft.com/office/drawing/2014/main" id="{06ED7E51-E7E6-48D2-9252-662668A03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9006" y="5655552"/>
            <a:ext cx="2475766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eaLnBrk="1" hangingPunct="1"/>
            <a:r>
              <a:rPr lang="en-US" sz="2000" b="1" dirty="0">
                <a:solidFill>
                  <a:srgbClr val="A57133"/>
                </a:solidFill>
              </a:rPr>
              <a:t>:</a:t>
            </a:r>
            <a:r>
              <a:rPr lang="en-US" sz="2000" b="0" dirty="0">
                <a:solidFill>
                  <a:srgbClr val="A57133"/>
                </a:solidFill>
              </a:rPr>
              <a:t> starts an indented suite of statements</a:t>
            </a:r>
          </a:p>
        </p:txBody>
      </p:sp>
      <p:sp>
        <p:nvSpPr>
          <p:cNvPr id="23" name="Line 9">
            <a:extLst>
              <a:ext uri="{FF2B5EF4-FFF2-40B4-BE49-F238E27FC236}">
                <a16:creationId xmlns:a16="http://schemas.microsoft.com/office/drawing/2014/main" id="{0DC5B037-77D9-4185-B529-AACF6599AEE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523999" y="3671223"/>
            <a:ext cx="304801" cy="193899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7476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nimBg="1"/>
      <p:bldP spid="22" grpId="0"/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if-else syntax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609600" y="2590800"/>
            <a:ext cx="8253156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eaLnBrk="1" hangingPunct="1"/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Times" pitchFamily="-32" charset="0"/>
              </a:rPr>
              <a:t>if </a:t>
            </a:r>
            <a:r>
              <a:rPr lang="en-US" sz="2400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perform some </a:t>
            </a:r>
            <a:r>
              <a:rPr lang="en-US" sz="2400" b="1" i="1" dirty="0" err="1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boolean</a:t>
            </a:r>
            <a:r>
              <a:rPr lang="en-US" sz="2400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 test</a:t>
            </a:r>
            <a:r>
              <a:rPr lang="en-US" sz="2400" b="1" dirty="0">
                <a:latin typeface="Courier New" pitchFamily="49" charset="0"/>
                <a:cs typeface="Times" pitchFamily="-32" charset="0"/>
              </a:rPr>
              <a:t>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Times" pitchFamily="-32" charset="0"/>
              </a:rPr>
              <a:t>  </a:t>
            </a:r>
            <a:r>
              <a:rPr lang="en-US" sz="2400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statement(s) if the test is true</a:t>
            </a:r>
          </a:p>
          <a:p>
            <a:pPr algn="l" eaLnBrk="1" hangingPunct="1"/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Times" pitchFamily="-32" charset="0"/>
              </a:rPr>
              <a:t>else</a:t>
            </a:r>
            <a:r>
              <a:rPr lang="en-US" sz="2400" b="1" dirty="0">
                <a:latin typeface="Courier New" pitchFamily="49" charset="0"/>
                <a:cs typeface="Times" pitchFamily="-32" charset="0"/>
              </a:rPr>
              <a:t>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Times" pitchFamily="-32" charset="0"/>
              </a:rPr>
              <a:t>  </a:t>
            </a:r>
            <a:r>
              <a:rPr lang="en-US" sz="2400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statement(s) if the test is false</a:t>
            </a:r>
            <a:endParaRPr lang="en-US" sz="2400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endParaRPr lang="en-US" sz="2400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280900" y="-1130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4BD0B946-899C-4215-B929-B33520F22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13" name="Text Box 3">
            <a:extLst>
              <a:ext uri="{FF2B5EF4-FFF2-40B4-BE49-F238E27FC236}">
                <a16:creationId xmlns:a16="http://schemas.microsoft.com/office/drawing/2014/main" id="{847A94A7-C1DE-4A06-B4FB-E9695960D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590800"/>
            <a:ext cx="825315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eaLnBrk="1" hangingPunct="1"/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Times" pitchFamily="-32" charset="0"/>
              </a:rPr>
              <a:t>if </a:t>
            </a:r>
            <a:r>
              <a:rPr lang="en-US" sz="2400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perform some </a:t>
            </a:r>
            <a:r>
              <a:rPr lang="en-US" sz="2400" b="1" i="1" dirty="0" err="1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boolean</a:t>
            </a:r>
            <a:r>
              <a:rPr lang="en-US" sz="2400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 test</a:t>
            </a:r>
            <a:r>
              <a:rPr lang="en-US" sz="2400" b="1" dirty="0">
                <a:latin typeface="Courier New" pitchFamily="49" charset="0"/>
                <a:cs typeface="Times" pitchFamily="-32" charset="0"/>
              </a:rPr>
              <a:t>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Times" pitchFamily="-32" charset="0"/>
              </a:rPr>
              <a:t>  </a:t>
            </a:r>
            <a:r>
              <a:rPr lang="en-US" sz="2400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statement(s) if the test is true</a:t>
            </a:r>
            <a:endParaRPr lang="en-US" sz="2400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</p:txBody>
      </p:sp>
      <p:sp>
        <p:nvSpPr>
          <p:cNvPr id="17" name="Text Box 6">
            <a:extLst>
              <a:ext uri="{FF2B5EF4-FFF2-40B4-BE49-F238E27FC236}">
                <a16:creationId xmlns:a16="http://schemas.microsoft.com/office/drawing/2014/main" id="{EEA20196-CFE9-4ADF-A999-5CCF199D8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167326"/>
            <a:ext cx="301576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b="0" dirty="0">
                <a:solidFill>
                  <a:srgbClr val="A57133"/>
                </a:solidFill>
              </a:rPr>
              <a:t>actions if condition is </a:t>
            </a:r>
            <a:r>
              <a:rPr lang="en-US" sz="2000" b="1" dirty="0">
                <a:solidFill>
                  <a:srgbClr val="A57133"/>
                </a:solidFill>
              </a:rPr>
              <a:t>false.</a:t>
            </a:r>
          </a:p>
        </p:txBody>
      </p:sp>
      <p:sp>
        <p:nvSpPr>
          <p:cNvPr id="18" name="Line 12">
            <a:extLst>
              <a:ext uri="{FF2B5EF4-FFF2-40B4-BE49-F238E27FC236}">
                <a16:creationId xmlns:a16="http://schemas.microsoft.com/office/drawing/2014/main" id="{3B9E32F9-F7AE-4F25-A83C-AB86D0E614D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48399" y="4210711"/>
            <a:ext cx="533401" cy="9566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0" name="Rectangle 17">
            <a:extLst>
              <a:ext uri="{FF2B5EF4-FFF2-40B4-BE49-F238E27FC236}">
                <a16:creationId xmlns:a16="http://schemas.microsoft.com/office/drawing/2014/main" id="{852A67E8-197B-4008-8FE7-BC93B12D6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3767103"/>
            <a:ext cx="7910256" cy="3476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53661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28D223-269D-4CE5-BD4E-FEBBDC0E7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66E226-4AF9-4651-85B4-90ECF4592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 statement example 2</a:t>
            </a:r>
            <a:endParaRPr lang="en-VI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2C2DA45-B2B5-4966-BEDA-D26A07863A7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3314525" y="4673392"/>
            <a:ext cx="1257475" cy="14765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DDDEEFE-2DA2-4726-8DEE-9AF448018A9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7315200" y="4673393"/>
            <a:ext cx="1257475" cy="14765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9FB68825-0AA9-4049-969D-492E2EDB9BE6}"/>
              </a:ext>
            </a:extLst>
          </p:cNvPr>
          <p:cNvSpPr/>
          <p:nvPr/>
        </p:nvSpPr>
        <p:spPr>
          <a:xfrm>
            <a:off x="4912599" y="4854574"/>
            <a:ext cx="2402601" cy="1295400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When </a:t>
            </a:r>
            <a:r>
              <a:rPr lang="en-GB" dirty="0" err="1">
                <a:solidFill>
                  <a:srgbClr val="FFFF00"/>
                </a:solidFill>
              </a:rPr>
              <a:t>mouseX</a:t>
            </a:r>
            <a:r>
              <a:rPr lang="en-GB" dirty="0">
                <a:solidFill>
                  <a:srgbClr val="FFFF00"/>
                </a:solidFill>
              </a:rPr>
              <a:t> &gt; 50</a:t>
            </a:r>
            <a:endParaRPr lang="en-VI" dirty="0">
              <a:solidFill>
                <a:srgbClr val="FFFF00"/>
              </a:solidFill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9C86AB8-7A73-407E-B1F0-DA89FC921BB6}"/>
              </a:ext>
            </a:extLst>
          </p:cNvPr>
          <p:cNvSpPr/>
          <p:nvPr/>
        </p:nvSpPr>
        <p:spPr>
          <a:xfrm>
            <a:off x="741625" y="4854574"/>
            <a:ext cx="2458775" cy="1295400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When </a:t>
            </a:r>
            <a:r>
              <a:rPr lang="en-GB" dirty="0" err="1">
                <a:solidFill>
                  <a:srgbClr val="FFFF00"/>
                </a:solidFill>
              </a:rPr>
              <a:t>mouseX</a:t>
            </a:r>
            <a:r>
              <a:rPr lang="en-GB" dirty="0">
                <a:solidFill>
                  <a:srgbClr val="FFFF00"/>
                </a:solidFill>
              </a:rPr>
              <a:t> &lt;= 50</a:t>
            </a:r>
            <a:endParaRPr lang="en-VI" dirty="0">
              <a:solidFill>
                <a:srgbClr val="FFFF00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0522EF6-D9C4-4584-8DA2-6C0F32D8DD9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" r="351" b="34644"/>
          <a:stretch/>
        </p:blipFill>
        <p:spPr>
          <a:xfrm>
            <a:off x="3200400" y="792469"/>
            <a:ext cx="5505836" cy="35674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EB0D2A0-D2AE-4FEA-8825-596D4C60A7C8}"/>
              </a:ext>
            </a:extLst>
          </p:cNvPr>
          <p:cNvSpPr/>
          <p:nvPr/>
        </p:nvSpPr>
        <p:spPr>
          <a:xfrm>
            <a:off x="4058975" y="3362218"/>
            <a:ext cx="304800" cy="8382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032AB9C-7190-4A2D-8427-BB1B627E2C95}"/>
              </a:ext>
            </a:extLst>
          </p:cNvPr>
          <p:cNvSpPr/>
          <p:nvPr/>
        </p:nvSpPr>
        <p:spPr>
          <a:xfrm>
            <a:off x="2992175" y="3438418"/>
            <a:ext cx="990600" cy="6096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C39E09D-8153-4F2A-9128-B08C62DAEC93}"/>
              </a:ext>
            </a:extLst>
          </p:cNvPr>
          <p:cNvSpPr/>
          <p:nvPr/>
        </p:nvSpPr>
        <p:spPr>
          <a:xfrm>
            <a:off x="830663" y="2003426"/>
            <a:ext cx="2161512" cy="226488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Returning to our previous example…we used two if statements</a:t>
            </a:r>
            <a:endParaRPr lang="en-VI" sz="2400" dirty="0"/>
          </a:p>
        </p:txBody>
      </p:sp>
    </p:spTree>
    <p:extLst>
      <p:ext uri="{BB962C8B-B14F-4D97-AF65-F5344CB8AC3E}">
        <p14:creationId xmlns:p14="http://schemas.microsoft.com/office/powerpoint/2010/main" val="2420299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28D223-269D-4CE5-BD4E-FEBBDC0E7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66E226-4AF9-4651-85B4-90ECF4592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8401" y="11738"/>
            <a:ext cx="6055599" cy="648483"/>
          </a:xfrm>
        </p:spPr>
        <p:txBody>
          <a:bodyPr>
            <a:normAutofit fontScale="90000"/>
          </a:bodyPr>
          <a:lstStyle/>
          <a:p>
            <a:r>
              <a:rPr lang="en-US" dirty="0"/>
              <a:t>if statement example 2</a:t>
            </a:r>
            <a:endParaRPr lang="en-VI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2C2DA45-B2B5-4966-BEDA-D26A07863A7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3314525" y="4673392"/>
            <a:ext cx="1257475" cy="14765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DDDEEFE-2DA2-4726-8DEE-9AF448018A9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7315200" y="4673393"/>
            <a:ext cx="1257475" cy="14765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9FB68825-0AA9-4049-969D-492E2EDB9BE6}"/>
              </a:ext>
            </a:extLst>
          </p:cNvPr>
          <p:cNvSpPr/>
          <p:nvPr/>
        </p:nvSpPr>
        <p:spPr>
          <a:xfrm>
            <a:off x="4912599" y="4854574"/>
            <a:ext cx="2402601" cy="1295400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otherwise</a:t>
            </a:r>
            <a:endParaRPr lang="en-VI" dirty="0">
              <a:solidFill>
                <a:srgbClr val="FFFF00"/>
              </a:solidFill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9C86AB8-7A73-407E-B1F0-DA89FC921BB6}"/>
              </a:ext>
            </a:extLst>
          </p:cNvPr>
          <p:cNvSpPr/>
          <p:nvPr/>
        </p:nvSpPr>
        <p:spPr>
          <a:xfrm>
            <a:off x="741625" y="4854574"/>
            <a:ext cx="2458775" cy="1295400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When </a:t>
            </a:r>
            <a:r>
              <a:rPr lang="en-GB" dirty="0" err="1">
                <a:solidFill>
                  <a:srgbClr val="FFFF00"/>
                </a:solidFill>
              </a:rPr>
              <a:t>mouseX</a:t>
            </a:r>
            <a:r>
              <a:rPr lang="en-GB" dirty="0">
                <a:solidFill>
                  <a:srgbClr val="FFFF00"/>
                </a:solidFill>
              </a:rPr>
              <a:t> &lt;= 50</a:t>
            </a:r>
            <a:endParaRPr lang="en-VI" dirty="0">
              <a:solidFill>
                <a:srgbClr val="FFFF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66B1DB-1930-4A2C-924E-CF79F2A73EE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-17" b="34797"/>
          <a:stretch/>
        </p:blipFill>
        <p:spPr>
          <a:xfrm>
            <a:off x="3160591" y="841402"/>
            <a:ext cx="5526209" cy="35591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B032AB9C-7190-4A2D-8427-BB1B627E2C95}"/>
              </a:ext>
            </a:extLst>
          </p:cNvPr>
          <p:cNvSpPr/>
          <p:nvPr/>
        </p:nvSpPr>
        <p:spPr>
          <a:xfrm>
            <a:off x="2992175" y="3438418"/>
            <a:ext cx="990600" cy="6096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C39E09D-8153-4F2A-9128-B08C62DAEC93}"/>
              </a:ext>
            </a:extLst>
          </p:cNvPr>
          <p:cNvSpPr/>
          <p:nvPr/>
        </p:nvSpPr>
        <p:spPr>
          <a:xfrm>
            <a:off x="830663" y="2003426"/>
            <a:ext cx="2161512" cy="226488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Now we are using one </a:t>
            </a:r>
            <a:r>
              <a:rPr lang="en-GB" sz="2400" dirty="0">
                <a:solidFill>
                  <a:srgbClr val="FFFF00"/>
                </a:solidFill>
              </a:rPr>
              <a:t>if</a:t>
            </a:r>
            <a:r>
              <a:rPr lang="en-GB" sz="2400" dirty="0"/>
              <a:t> with an </a:t>
            </a:r>
            <a:r>
              <a:rPr lang="en-GB" sz="2400" dirty="0">
                <a:solidFill>
                  <a:srgbClr val="FFFF00"/>
                </a:solidFill>
              </a:rPr>
              <a:t>else</a:t>
            </a:r>
            <a:r>
              <a:rPr lang="en-GB" sz="2400" dirty="0"/>
              <a:t> clause. </a:t>
            </a:r>
            <a:endParaRPr lang="en-VI" sz="2400" dirty="0"/>
          </a:p>
        </p:txBody>
      </p:sp>
    </p:spTree>
    <p:extLst>
      <p:ext uri="{BB962C8B-B14F-4D97-AF65-F5344CB8AC3E}">
        <p14:creationId xmlns:p14="http://schemas.microsoft.com/office/powerpoint/2010/main" val="1671874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E7CD9D8-70F5-42D2-977E-441F146329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Conditional Statements</a:t>
            </a:r>
            <a:endParaRPr lang="en-VI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ADBAC80C-192E-4ABA-8588-E1A59FE9C5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if-</a:t>
            </a:r>
            <a:r>
              <a:rPr lang="en-GB" dirty="0" err="1"/>
              <a:t>elif</a:t>
            </a:r>
            <a:r>
              <a:rPr lang="en-GB" dirty="0"/>
              <a:t>-else syntax</a:t>
            </a:r>
            <a:endParaRPr lang="en-V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CAE6C-1B9C-4046-8297-DA5BDC293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7903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if-</a:t>
            </a:r>
            <a:r>
              <a:rPr lang="en-US" dirty="0" err="1"/>
              <a:t>elif</a:t>
            </a:r>
            <a:r>
              <a:rPr lang="en-US" dirty="0"/>
              <a:t>-else syntax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838200" y="1375115"/>
            <a:ext cx="7078425" cy="5309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eaLnBrk="1" hangingPunct="1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Times" pitchFamily="-32" charset="0"/>
              </a:rPr>
              <a:t>if </a:t>
            </a:r>
            <a:r>
              <a:rPr lang="en-US" sz="2000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condition1…perform some </a:t>
            </a:r>
            <a:r>
              <a:rPr lang="en-US" sz="2000" b="1" i="1" dirty="0" err="1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boolean</a:t>
            </a:r>
            <a:r>
              <a:rPr lang="en-US" sz="2000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 test</a:t>
            </a:r>
            <a:r>
              <a:rPr lang="en-US" sz="2000" b="1" dirty="0">
                <a:latin typeface="Courier New" pitchFamily="49" charset="0"/>
                <a:cs typeface="Times" pitchFamily="-32" charset="0"/>
              </a:rPr>
              <a:t>:</a:t>
            </a:r>
            <a:endParaRPr lang="en-US" sz="2000" b="1" dirty="0">
              <a:solidFill>
                <a:schemeClr val="tx1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Times" pitchFamily="-32" charset="0"/>
              </a:rPr>
              <a:t>  </a:t>
            </a:r>
            <a:r>
              <a:rPr lang="en-US" sz="2000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statement(s) if the test is true</a:t>
            </a:r>
          </a:p>
          <a:p>
            <a:pPr algn="l" eaLnBrk="1" hangingPunct="1">
              <a:lnSpc>
                <a:spcPct val="150000"/>
              </a:lnSpc>
            </a:pPr>
            <a:r>
              <a:rPr lang="en-US" sz="2000" b="1" dirty="0" err="1">
                <a:latin typeface="Courier New" pitchFamily="49" charset="0"/>
                <a:cs typeface="Times" pitchFamily="-32" charset="0"/>
              </a:rPr>
              <a:t>e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Times" pitchFamily="-32" charset="0"/>
              </a:rPr>
              <a:t>lif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Times" pitchFamily="-32" charset="0"/>
              </a:rPr>
              <a:t> </a:t>
            </a:r>
            <a:r>
              <a:rPr lang="en-US" sz="2000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condition2…perform some </a:t>
            </a:r>
            <a:r>
              <a:rPr lang="en-US" sz="2000" b="1" i="1" dirty="0" err="1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boolean</a:t>
            </a:r>
            <a:r>
              <a:rPr lang="en-US" sz="2000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 test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Times" pitchFamily="-32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Times" pitchFamily="-32" charset="0"/>
              </a:rPr>
              <a:t>  </a:t>
            </a:r>
            <a:r>
              <a:rPr lang="en-US" sz="2000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statements if condition1 gave a     </a:t>
            </a:r>
          </a:p>
          <a:p>
            <a:pPr>
              <a:lnSpc>
                <a:spcPct val="150000"/>
              </a:lnSpc>
            </a:pPr>
            <a:r>
              <a:rPr lang="en-US" sz="2000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  false result and condition2 gave a true </a:t>
            </a:r>
          </a:p>
          <a:p>
            <a:pPr>
              <a:lnSpc>
                <a:spcPct val="150000"/>
              </a:lnSpc>
            </a:pPr>
            <a:r>
              <a:rPr lang="en-US" sz="2000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  result</a:t>
            </a:r>
            <a:endParaRPr lang="en-US" sz="2000" b="1" dirty="0">
              <a:solidFill>
                <a:schemeClr val="tx1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Times" pitchFamily="-32" charset="0"/>
              </a:rPr>
              <a:t>else</a:t>
            </a:r>
            <a:r>
              <a:rPr lang="en-US" sz="2000" b="1" dirty="0">
                <a:latin typeface="Courier New" pitchFamily="49" charset="0"/>
                <a:cs typeface="Times" pitchFamily="-32" charset="0"/>
              </a:rPr>
              <a:t>:</a:t>
            </a:r>
            <a:endParaRPr lang="en-US" sz="2000" b="1" dirty="0">
              <a:solidFill>
                <a:schemeClr val="tx1"/>
              </a:solidFill>
              <a:latin typeface="Courier New" pitchFamily="49" charset="0"/>
              <a:cs typeface="Times" pitchFamily="-32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Times" pitchFamily="-32" charset="0"/>
              </a:rPr>
              <a:t>  </a:t>
            </a:r>
            <a:r>
              <a:rPr lang="en-US" sz="2000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statements if both condition1 and </a:t>
            </a:r>
          </a:p>
          <a:p>
            <a:pPr>
              <a:lnSpc>
                <a:spcPct val="150000"/>
              </a:lnSpc>
            </a:pPr>
            <a:r>
              <a:rPr lang="en-US" sz="2000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  condition2 gave a false result</a:t>
            </a:r>
            <a:endParaRPr lang="en-US" sz="2000" b="1" dirty="0">
              <a:solidFill>
                <a:srgbClr val="00B050"/>
              </a:solidFill>
              <a:latin typeface="Courier New" pitchFamily="49" charset="0"/>
            </a:endParaRPr>
          </a:p>
          <a:p>
            <a:pPr algn="l" eaLnBrk="1" hangingPunct="1">
              <a:lnSpc>
                <a:spcPct val="150000"/>
              </a:lnSpc>
            </a:pPr>
            <a:endParaRPr lang="en-US" sz="2400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>
              <a:lnSpc>
                <a:spcPct val="150000"/>
              </a:lnSpc>
            </a:pPr>
            <a:endParaRPr lang="en-US" sz="2400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280900" y="-1130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4BD0B946-899C-4215-B929-B33520F22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13" name="Rectangle 17">
            <a:extLst>
              <a:ext uri="{FF2B5EF4-FFF2-40B4-BE49-F238E27FC236}">
                <a16:creationId xmlns:a16="http://schemas.microsoft.com/office/drawing/2014/main" id="{DDE08DC2-C065-40B7-B07B-BBEE89CE4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480" y="1929846"/>
            <a:ext cx="6926533" cy="3651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/>
          </a:p>
        </p:txBody>
      </p:sp>
      <p:sp>
        <p:nvSpPr>
          <p:cNvPr id="17" name="Rectangle 17">
            <a:extLst>
              <a:ext uri="{FF2B5EF4-FFF2-40B4-BE49-F238E27FC236}">
                <a16:creationId xmlns:a16="http://schemas.microsoft.com/office/drawing/2014/main" id="{EDAA0CC4-CE3D-4ED0-82A5-ED359FB2F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479" y="2849550"/>
            <a:ext cx="6926533" cy="12900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D88D3B8-C73F-4DB0-8DD3-4005EB799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7285" y="4677294"/>
            <a:ext cx="6926533" cy="83395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145740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if statement example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1472" y="1257727"/>
            <a:ext cx="7775484" cy="8892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sz="2800" dirty="0"/>
              <a:t>If the x-coordinate of the mouse pointer is on the:</a:t>
            </a:r>
          </a:p>
          <a:p>
            <a:endParaRPr lang="en-IE" dirty="0"/>
          </a:p>
          <a:p>
            <a:endParaRPr lang="en-IE" dirty="0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468315B5-0732-4EBA-8754-401058440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36EB3D-F064-49C4-BEAB-41760D9D6E13}"/>
              </a:ext>
            </a:extLst>
          </p:cNvPr>
          <p:cNvSpPr txBox="1"/>
          <p:nvPr/>
        </p:nvSpPr>
        <p:spPr>
          <a:xfrm>
            <a:off x="6477000" y="2379277"/>
            <a:ext cx="19812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dirty="0"/>
              <a:t>right third </a:t>
            </a:r>
            <a:r>
              <a:rPr lang="en-IE" dirty="0"/>
              <a:t>of the display window, draw a rectangle on the right third of the window.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25CB77-D345-44C9-9163-E6CB095EF720}"/>
              </a:ext>
            </a:extLst>
          </p:cNvPr>
          <p:cNvSpPr txBox="1"/>
          <p:nvPr/>
        </p:nvSpPr>
        <p:spPr>
          <a:xfrm>
            <a:off x="1050751" y="2402604"/>
            <a:ext cx="21564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dirty="0"/>
              <a:t>left third</a:t>
            </a:r>
            <a:r>
              <a:rPr lang="en-IE" dirty="0"/>
              <a:t> of the display window, draw a rectangle on the left third of the window. 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C3FFF1-13EC-42DC-B700-F3A8792138D3}"/>
              </a:ext>
            </a:extLst>
          </p:cNvPr>
          <p:cNvSpPr txBox="1"/>
          <p:nvPr/>
        </p:nvSpPr>
        <p:spPr>
          <a:xfrm>
            <a:off x="3623396" y="2379277"/>
            <a:ext cx="21564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dirty="0"/>
              <a:t>middle third </a:t>
            </a:r>
            <a:r>
              <a:rPr lang="en-IE" dirty="0"/>
              <a:t>of the display window, draw a rectangle on the middle third of the window.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BA541B5B-C590-4AC6-9B55-4CC989DBE039}"/>
              </a:ext>
            </a:extLst>
          </p:cNvPr>
          <p:cNvSpPr/>
          <p:nvPr/>
        </p:nvSpPr>
        <p:spPr>
          <a:xfrm>
            <a:off x="1576277" y="3975533"/>
            <a:ext cx="533400" cy="609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B8C1BC09-0AD2-40A4-9B76-956AAFF56BD6}"/>
              </a:ext>
            </a:extLst>
          </p:cNvPr>
          <p:cNvSpPr/>
          <p:nvPr/>
        </p:nvSpPr>
        <p:spPr>
          <a:xfrm>
            <a:off x="4305300" y="3975533"/>
            <a:ext cx="533400" cy="609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5C684392-266F-4C8D-B93F-2D185C9CF2E4}"/>
              </a:ext>
            </a:extLst>
          </p:cNvPr>
          <p:cNvSpPr/>
          <p:nvPr/>
        </p:nvSpPr>
        <p:spPr>
          <a:xfrm>
            <a:off x="7086600" y="3975533"/>
            <a:ext cx="533400" cy="609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4369F7-6E16-4A90-AB8D-E5ADFE1AE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477" y="4861982"/>
            <a:ext cx="1257475" cy="14765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916D19D-72C9-48BC-838D-7DB5BE194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4884265"/>
            <a:ext cx="1257475" cy="14765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0C0427D-F307-49DC-B680-5B4C51754D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800" y="4861982"/>
            <a:ext cx="1257475" cy="14765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79927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if statement example 3</a:t>
            </a:r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468315B5-0732-4EBA-8754-401058440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C05C30-1EB2-4C4F-9DEF-71160A24C6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r="351" b="30102"/>
          <a:stretch/>
        </p:blipFill>
        <p:spPr>
          <a:xfrm>
            <a:off x="609600" y="737050"/>
            <a:ext cx="5505836" cy="40151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7F81E3F-EAFD-4E36-B326-D243E9B76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477" y="4861982"/>
            <a:ext cx="1257475" cy="14765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E533361-39CB-4824-8215-79DF3B3864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4884265"/>
            <a:ext cx="1257475" cy="14765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12240E7-C887-4E9C-86DB-ED5D3F1C04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1800" y="4861982"/>
            <a:ext cx="1257475" cy="14765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75567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E7CD9D8-70F5-42D2-977E-441F146329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Logical Operators</a:t>
            </a:r>
            <a:endParaRPr lang="en-VI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ADBAC80C-192E-4ABA-8588-E1A59FE9C5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V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CAE6C-1B9C-4046-8297-DA5BDC293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932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Logic operators operate on </a:t>
            </a:r>
            <a:r>
              <a:rPr lang="en-IE" dirty="0" err="1">
                <a:solidFill>
                  <a:srgbClr val="00B050"/>
                </a:solidFill>
              </a:rPr>
              <a:t>boolean</a:t>
            </a:r>
            <a:r>
              <a:rPr lang="en-IE" dirty="0">
                <a:solidFill>
                  <a:srgbClr val="00B050"/>
                </a:solidFill>
              </a:rPr>
              <a:t> </a:t>
            </a:r>
            <a:r>
              <a:rPr lang="en-IE" dirty="0"/>
              <a:t>values.</a:t>
            </a:r>
          </a:p>
          <a:p>
            <a:r>
              <a:rPr lang="en-IE" dirty="0"/>
              <a:t>They produce a new </a:t>
            </a:r>
            <a:r>
              <a:rPr lang="en-IE" dirty="0" err="1">
                <a:solidFill>
                  <a:srgbClr val="00B050"/>
                </a:solidFill>
              </a:rPr>
              <a:t>boolean</a:t>
            </a:r>
            <a:r>
              <a:rPr lang="en-IE" dirty="0">
                <a:solidFill>
                  <a:srgbClr val="00B050"/>
                </a:solidFill>
              </a:rPr>
              <a:t> </a:t>
            </a:r>
            <a:r>
              <a:rPr lang="en-IE" dirty="0"/>
              <a:t>value as a result.</a:t>
            </a:r>
          </a:p>
          <a:p>
            <a:r>
              <a:rPr lang="en-IE" dirty="0"/>
              <a:t>The ones that we will use, so far, are:</a:t>
            </a:r>
          </a:p>
          <a:p>
            <a:pPr marL="1257300" lvl="3" indent="0">
              <a:buNone/>
            </a:pPr>
            <a:r>
              <a:rPr lang="en-IE" sz="3200" b="1" dirty="0">
                <a:solidFill>
                  <a:srgbClr val="C00000"/>
                </a:solidFill>
              </a:rPr>
              <a:t>and</a:t>
            </a:r>
            <a:endParaRPr lang="en-IE" sz="3200" dirty="0"/>
          </a:p>
          <a:p>
            <a:pPr marL="1257300" lvl="3" indent="0">
              <a:buNone/>
            </a:pPr>
            <a:r>
              <a:rPr lang="en-IE" sz="3200" b="1" dirty="0">
                <a:solidFill>
                  <a:srgbClr val="C00000"/>
                </a:solidFill>
              </a:rPr>
              <a:t>or</a:t>
            </a:r>
            <a:r>
              <a:rPr lang="en-IE" sz="3200" dirty="0"/>
              <a:t> 	</a:t>
            </a:r>
          </a:p>
          <a:p>
            <a:pPr marL="1257300" lvl="3" indent="0">
              <a:buNone/>
            </a:pPr>
            <a:r>
              <a:rPr lang="en-IE" sz="3200" b="1" dirty="0">
                <a:solidFill>
                  <a:srgbClr val="C00000"/>
                </a:solidFill>
              </a:rPr>
              <a:t>not</a:t>
            </a:r>
            <a:endParaRPr lang="en-IE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24EE4-4C38-47AF-BAFD-EA4504E95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3987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Logical operators - AND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3901725"/>
              </p:ext>
            </p:extLst>
          </p:nvPr>
        </p:nvGraphicFramePr>
        <p:xfrm>
          <a:off x="1143000" y="2743200"/>
          <a:ext cx="3429000" cy="2286000"/>
        </p:xfrm>
        <a:graphic>
          <a:graphicData uri="http://schemas.openxmlformats.org/drawingml/2006/table">
            <a:tbl>
              <a:tblPr firstRow="1" lastCol="1" bandRow="1">
                <a:tableStyleId>{7E9639D4-E3E2-4D34-9284-5A2195B3D0D7}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aseline="0" dirty="0"/>
                        <a:t>a and b</a:t>
                      </a:r>
                      <a:endParaRPr lang="en-GB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23F9552-A914-4398-9284-92E701FC1868}"/>
              </a:ext>
            </a:extLst>
          </p:cNvPr>
          <p:cNvSpPr txBox="1"/>
          <p:nvPr/>
        </p:nvSpPr>
        <p:spPr>
          <a:xfrm>
            <a:off x="2095500" y="1581080"/>
            <a:ext cx="2133600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E" sz="2800" dirty="0">
                <a:solidFill>
                  <a:srgbClr val="FF0000"/>
                </a:solidFill>
              </a:rPr>
              <a:t>a  and  b</a:t>
            </a:r>
            <a:endParaRPr lang="en-VI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8C8021-0A84-4D62-9F86-E7458E04B457}"/>
              </a:ext>
            </a:extLst>
          </p:cNvPr>
          <p:cNvSpPr txBox="1"/>
          <p:nvPr/>
        </p:nvSpPr>
        <p:spPr>
          <a:xfrm>
            <a:off x="5029200" y="2979003"/>
            <a:ext cx="3048000" cy="8309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Evaluates to </a:t>
            </a:r>
            <a:r>
              <a:rPr lang="en-IE" sz="2400" dirty="0">
                <a:solidFill>
                  <a:srgbClr val="00B050"/>
                </a:solidFill>
              </a:rPr>
              <a:t>true</a:t>
            </a:r>
            <a:r>
              <a:rPr lang="en-IE" sz="2400" dirty="0"/>
              <a:t> if both </a:t>
            </a:r>
            <a:r>
              <a:rPr lang="en-IE" sz="2400" b="1" i="1" dirty="0"/>
              <a:t>a</a:t>
            </a:r>
            <a:r>
              <a:rPr lang="en-IE" sz="2400" dirty="0"/>
              <a:t> and </a:t>
            </a:r>
            <a:r>
              <a:rPr lang="en-IE" sz="2400" b="1" i="1" dirty="0"/>
              <a:t>b</a:t>
            </a:r>
            <a:r>
              <a:rPr lang="en-IE" sz="2400" dirty="0"/>
              <a:t> are true.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51B815-2D3D-4F43-8CDC-D8561F09248B}"/>
              </a:ext>
            </a:extLst>
          </p:cNvPr>
          <p:cNvSpPr txBox="1"/>
          <p:nvPr/>
        </p:nvSpPr>
        <p:spPr>
          <a:xfrm>
            <a:off x="5029200" y="4118206"/>
            <a:ext cx="3657600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It is </a:t>
            </a:r>
            <a:r>
              <a:rPr lang="en-IE" sz="2400" dirty="0">
                <a:solidFill>
                  <a:srgbClr val="00B050"/>
                </a:solidFill>
              </a:rPr>
              <a:t>false</a:t>
            </a:r>
            <a:r>
              <a:rPr lang="en-IE" sz="2400" dirty="0"/>
              <a:t> in all other cases.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63D57EC6-49EA-4780-A81C-C34332FEC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C2586486-AB30-46C6-BCBD-43E600370086}"/>
              </a:ext>
            </a:extLst>
          </p:cNvPr>
          <p:cNvSpPr/>
          <p:nvPr/>
        </p:nvSpPr>
        <p:spPr>
          <a:xfrm>
            <a:off x="4618961" y="3185120"/>
            <a:ext cx="410239" cy="396280"/>
          </a:xfrm>
          <a:prstGeom prst="rightBrac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C1A23BA8-32DC-438A-B88F-663BB63B87C0}"/>
              </a:ext>
            </a:extLst>
          </p:cNvPr>
          <p:cNvSpPr/>
          <p:nvPr/>
        </p:nvSpPr>
        <p:spPr>
          <a:xfrm>
            <a:off x="4618961" y="3668878"/>
            <a:ext cx="381000" cy="1360322"/>
          </a:xfrm>
          <a:prstGeom prst="rightBrac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3171403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Logical operators - OR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9947204"/>
              </p:ext>
            </p:extLst>
          </p:nvPr>
        </p:nvGraphicFramePr>
        <p:xfrm>
          <a:off x="1066800" y="2743200"/>
          <a:ext cx="3505200" cy="2286000"/>
        </p:xfrm>
        <a:graphic>
          <a:graphicData uri="http://schemas.openxmlformats.org/drawingml/2006/table">
            <a:tbl>
              <a:tblPr firstRow="1" lastCol="1" bandRow="1">
                <a:tableStyleId>{7E9639D4-E3E2-4D34-9284-5A2195B3D0D7}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</a:t>
                      </a:r>
                      <a:r>
                        <a:rPr lang="en-GB" sz="2400" baseline="0" dirty="0"/>
                        <a:t> or b</a:t>
                      </a:r>
                      <a:endParaRPr lang="en-GB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23F9552-A914-4398-9284-92E701FC1868}"/>
              </a:ext>
            </a:extLst>
          </p:cNvPr>
          <p:cNvSpPr txBox="1"/>
          <p:nvPr/>
        </p:nvSpPr>
        <p:spPr>
          <a:xfrm>
            <a:off x="2095500" y="1581080"/>
            <a:ext cx="2133600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E" sz="2800" dirty="0">
                <a:solidFill>
                  <a:srgbClr val="FF0000"/>
                </a:solidFill>
              </a:rPr>
              <a:t>a  or  b</a:t>
            </a:r>
            <a:endParaRPr lang="en-VI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8C8021-0A84-4D62-9F86-E7458E04B457}"/>
              </a:ext>
            </a:extLst>
          </p:cNvPr>
          <p:cNvSpPr txBox="1"/>
          <p:nvPr/>
        </p:nvSpPr>
        <p:spPr>
          <a:xfrm>
            <a:off x="5046922" y="3933540"/>
            <a:ext cx="3603551" cy="8309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Evaluates to </a:t>
            </a:r>
            <a:r>
              <a:rPr lang="en-IE" sz="2400" dirty="0">
                <a:solidFill>
                  <a:srgbClr val="00B050"/>
                </a:solidFill>
              </a:rPr>
              <a:t>true</a:t>
            </a:r>
            <a:r>
              <a:rPr lang="en-IE" sz="2400" dirty="0"/>
              <a:t> if either </a:t>
            </a:r>
            <a:r>
              <a:rPr lang="en-IE" sz="2400" b="1" i="1" dirty="0"/>
              <a:t>a</a:t>
            </a:r>
            <a:r>
              <a:rPr lang="en-IE" sz="2400" dirty="0"/>
              <a:t> and </a:t>
            </a:r>
            <a:r>
              <a:rPr lang="en-IE" sz="2400" b="1" i="1" dirty="0"/>
              <a:t>b, </a:t>
            </a:r>
            <a:r>
              <a:rPr lang="en-IE" sz="2400" i="1" dirty="0"/>
              <a:t>or </a:t>
            </a:r>
            <a:r>
              <a:rPr lang="en-IE" sz="2400" b="1" i="1" dirty="0"/>
              <a:t>both</a:t>
            </a:r>
            <a:r>
              <a:rPr lang="en-IE" sz="2400" dirty="0"/>
              <a:t> are true.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51B815-2D3D-4F43-8CDC-D8561F09248B}"/>
              </a:ext>
            </a:extLst>
          </p:cNvPr>
          <p:cNvSpPr txBox="1"/>
          <p:nvPr/>
        </p:nvSpPr>
        <p:spPr>
          <a:xfrm>
            <a:off x="5051975" y="3119735"/>
            <a:ext cx="3657600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It is </a:t>
            </a:r>
            <a:r>
              <a:rPr lang="en-IE" sz="2400" dirty="0">
                <a:solidFill>
                  <a:srgbClr val="00B050"/>
                </a:solidFill>
              </a:rPr>
              <a:t>false</a:t>
            </a:r>
            <a:r>
              <a:rPr lang="en-IE" sz="2400" dirty="0"/>
              <a:t> if both are false.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63D57EC6-49EA-4780-A81C-C34332FEC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C2586486-AB30-46C6-BCBD-43E600370086}"/>
              </a:ext>
            </a:extLst>
          </p:cNvPr>
          <p:cNvSpPr/>
          <p:nvPr/>
        </p:nvSpPr>
        <p:spPr>
          <a:xfrm>
            <a:off x="4618961" y="3185120"/>
            <a:ext cx="410239" cy="396280"/>
          </a:xfrm>
          <a:prstGeom prst="rightBrac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C1A23BA8-32DC-438A-B88F-663BB63B87C0}"/>
              </a:ext>
            </a:extLst>
          </p:cNvPr>
          <p:cNvSpPr/>
          <p:nvPr/>
        </p:nvSpPr>
        <p:spPr>
          <a:xfrm>
            <a:off x="4618961" y="3668878"/>
            <a:ext cx="381000" cy="1360322"/>
          </a:xfrm>
          <a:prstGeom prst="rightBrac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19494899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Logical operators - NOT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3F9552-A914-4398-9284-92E701FC1868}"/>
              </a:ext>
            </a:extLst>
          </p:cNvPr>
          <p:cNvSpPr txBox="1"/>
          <p:nvPr/>
        </p:nvSpPr>
        <p:spPr>
          <a:xfrm>
            <a:off x="2095500" y="1581080"/>
            <a:ext cx="2133600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E" sz="2800" dirty="0">
                <a:solidFill>
                  <a:srgbClr val="FF0000"/>
                </a:solidFill>
              </a:rPr>
              <a:t> not a</a:t>
            </a:r>
            <a:endParaRPr lang="en-VI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8C8021-0A84-4D62-9F86-E7458E04B457}"/>
              </a:ext>
            </a:extLst>
          </p:cNvPr>
          <p:cNvSpPr txBox="1"/>
          <p:nvPr/>
        </p:nvSpPr>
        <p:spPr>
          <a:xfrm>
            <a:off x="4597401" y="3046620"/>
            <a:ext cx="3784599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Evaluates to </a:t>
            </a:r>
            <a:r>
              <a:rPr lang="en-IE" sz="2400" dirty="0">
                <a:solidFill>
                  <a:srgbClr val="00B050"/>
                </a:solidFill>
              </a:rPr>
              <a:t>true</a:t>
            </a:r>
            <a:r>
              <a:rPr lang="en-IE" sz="2400" dirty="0"/>
              <a:t> if </a:t>
            </a:r>
            <a:r>
              <a:rPr lang="en-IE" sz="2400" b="1" i="1" dirty="0"/>
              <a:t>a</a:t>
            </a:r>
            <a:r>
              <a:rPr lang="en-IE" sz="2400" dirty="0"/>
              <a:t> is false.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63D57EC6-49EA-4780-A81C-C34332FEC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0B9F05A-84EA-469C-979C-3237D4942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705713"/>
              </p:ext>
            </p:extLst>
          </p:nvPr>
        </p:nvGraphicFramePr>
        <p:xfrm>
          <a:off x="1752600" y="3241125"/>
          <a:ext cx="2222500" cy="1371600"/>
        </p:xfrm>
        <a:graphic>
          <a:graphicData uri="http://schemas.openxmlformats.org/drawingml/2006/table">
            <a:tbl>
              <a:tblPr firstRow="1" lastCol="1" bandRow="1">
                <a:tableStyleId>{7E9639D4-E3E2-4D34-9284-5A2195B3D0D7}</a:tableStyleId>
              </a:tblPr>
              <a:tblGrid>
                <a:gridCol w="111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not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7187A42-0751-4097-A5D4-BC12C8B95D9E}"/>
              </a:ext>
            </a:extLst>
          </p:cNvPr>
          <p:cNvSpPr txBox="1"/>
          <p:nvPr/>
        </p:nvSpPr>
        <p:spPr>
          <a:xfrm>
            <a:off x="4572000" y="4612725"/>
            <a:ext cx="3784599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Evaluates to </a:t>
            </a:r>
            <a:r>
              <a:rPr lang="en-IE" sz="2400" dirty="0">
                <a:solidFill>
                  <a:srgbClr val="00B050"/>
                </a:solidFill>
              </a:rPr>
              <a:t>false</a:t>
            </a:r>
            <a:r>
              <a:rPr lang="en-IE" sz="2400" dirty="0"/>
              <a:t> if </a:t>
            </a:r>
            <a:r>
              <a:rPr lang="en-IE" sz="2400" b="1" i="1" dirty="0"/>
              <a:t>a</a:t>
            </a:r>
            <a:r>
              <a:rPr lang="en-IE" sz="2400" dirty="0"/>
              <a:t> is true.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6EB69D2-2B10-4FBD-8B27-89A1623821DB}"/>
              </a:ext>
            </a:extLst>
          </p:cNvPr>
          <p:cNvCxnSpPr/>
          <p:nvPr/>
        </p:nvCxnSpPr>
        <p:spPr>
          <a:xfrm flipV="1">
            <a:off x="3975100" y="3241125"/>
            <a:ext cx="596900" cy="685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197AE0C-C185-49D6-96E9-A7E06AB402A8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3975100" y="4410247"/>
            <a:ext cx="596900" cy="43331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01847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Logical operators - </a:t>
            </a:r>
            <a:r>
              <a:rPr lang="en-IE" b="1" dirty="0"/>
              <a:t>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9447" y="1263088"/>
            <a:ext cx="4876800" cy="106680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dirty="0"/>
              <a:t>What is the result of each of these </a:t>
            </a:r>
            <a:r>
              <a:rPr lang="en-IE" dirty="0" err="1">
                <a:solidFill>
                  <a:srgbClr val="00B050"/>
                </a:solidFill>
              </a:rPr>
              <a:t>boolean</a:t>
            </a:r>
            <a:r>
              <a:rPr lang="en-IE" dirty="0">
                <a:solidFill>
                  <a:srgbClr val="00B050"/>
                </a:solidFill>
              </a:rPr>
              <a:t> </a:t>
            </a:r>
            <a:r>
              <a:rPr lang="en-IE" dirty="0"/>
              <a:t>expressions: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385237" y="3282273"/>
            <a:ext cx="4876800" cy="762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E" dirty="0">
                <a:solidFill>
                  <a:srgbClr val="C00000"/>
                </a:solidFill>
              </a:rPr>
              <a:t>Q1</a:t>
            </a:r>
            <a:r>
              <a:rPr lang="en-IE" dirty="0"/>
              <a:t>	(a &gt; b) and (a &lt; c)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385237" y="4196673"/>
            <a:ext cx="4876800" cy="762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E" dirty="0">
                <a:solidFill>
                  <a:srgbClr val="C00000"/>
                </a:solidFill>
              </a:rPr>
              <a:t>Q2</a:t>
            </a:r>
            <a:r>
              <a:rPr lang="en-IE" dirty="0"/>
              <a:t>	(a &lt; b) or (c &lt; a)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385237" y="5111073"/>
            <a:ext cx="4876800" cy="762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E" dirty="0">
                <a:solidFill>
                  <a:srgbClr val="C00000"/>
                </a:solidFill>
              </a:rPr>
              <a:t>Q3</a:t>
            </a:r>
            <a:r>
              <a:rPr lang="en-IE" dirty="0"/>
              <a:t>	not(b &lt; a) and (c &gt; b)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D55253B-ECDC-48D8-A4B7-1FDC72466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BAA0E2-AC73-40ED-A279-1A82F457B732}"/>
              </a:ext>
            </a:extLst>
          </p:cNvPr>
          <p:cNvSpPr/>
          <p:nvPr/>
        </p:nvSpPr>
        <p:spPr>
          <a:xfrm>
            <a:off x="7239000" y="919325"/>
            <a:ext cx="1371600" cy="175432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3600" dirty="0"/>
              <a:t>a = 5</a:t>
            </a:r>
          </a:p>
          <a:p>
            <a:r>
              <a:rPr lang="en-IE" sz="3600" dirty="0"/>
              <a:t>b = 10</a:t>
            </a:r>
          </a:p>
          <a:p>
            <a:r>
              <a:rPr lang="en-IE" sz="3600" dirty="0"/>
              <a:t>c = 7</a:t>
            </a:r>
          </a:p>
        </p:txBody>
      </p:sp>
    </p:spTree>
    <p:extLst>
      <p:ext uri="{BB962C8B-B14F-4D97-AF65-F5344CB8AC3E}">
        <p14:creationId xmlns:p14="http://schemas.microsoft.com/office/powerpoint/2010/main" val="2880224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Logical operators - </a:t>
            </a:r>
            <a:r>
              <a:rPr lang="en-IE" b="1" dirty="0"/>
              <a:t>answers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85800" y="951385"/>
            <a:ext cx="6096000" cy="12192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E" dirty="0">
                <a:solidFill>
                  <a:srgbClr val="C00000"/>
                </a:solidFill>
              </a:rPr>
              <a:t>Q1	(a &gt; b) and (a &lt; c)</a:t>
            </a:r>
          </a:p>
          <a:p>
            <a:pPr marL="0" indent="0">
              <a:buNone/>
            </a:pPr>
            <a:r>
              <a:rPr lang="en-IE" dirty="0">
                <a:solidFill>
                  <a:srgbClr val="C00000"/>
                </a:solidFill>
              </a:rPr>
              <a:t>A1</a:t>
            </a:r>
            <a:r>
              <a:rPr lang="en-IE" dirty="0"/>
              <a:t>	(5&gt;10) is true.  (5&lt;7) is true.  </a:t>
            </a:r>
            <a:br>
              <a:rPr lang="en-IE" dirty="0"/>
            </a:br>
            <a:r>
              <a:rPr lang="en-IE" dirty="0"/>
              <a:t>	Overall answer is TRUE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85800" y="2701546"/>
            <a:ext cx="6096000" cy="133705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E" sz="2700" dirty="0">
                <a:solidFill>
                  <a:srgbClr val="C00000"/>
                </a:solidFill>
              </a:rPr>
              <a:t>Q2</a:t>
            </a:r>
            <a:r>
              <a:rPr lang="en-IE" sz="2700" dirty="0"/>
              <a:t>	</a:t>
            </a:r>
            <a:r>
              <a:rPr lang="en-IE" sz="2700" dirty="0">
                <a:solidFill>
                  <a:srgbClr val="C00000"/>
                </a:solidFill>
              </a:rPr>
              <a:t>(a &lt; b) or (c &lt; a)</a:t>
            </a:r>
          </a:p>
          <a:p>
            <a:pPr marL="0" indent="0">
              <a:buNone/>
            </a:pPr>
            <a:r>
              <a:rPr lang="en-IE" sz="2700" dirty="0">
                <a:solidFill>
                  <a:srgbClr val="C00000"/>
                </a:solidFill>
              </a:rPr>
              <a:t>A2</a:t>
            </a:r>
            <a:r>
              <a:rPr lang="en-IE" sz="2700" dirty="0"/>
              <a:t>	(5 &lt; 10) is true. As we are using OR, 	the overall answer is TRUE.</a:t>
            </a:r>
          </a:p>
          <a:p>
            <a:pPr marL="0" indent="0">
              <a:buNone/>
            </a:pPr>
            <a:endParaRPr lang="en-IE" sz="2700" dirty="0"/>
          </a:p>
          <a:p>
            <a:pPr marL="0" indent="0">
              <a:buNone/>
            </a:pPr>
            <a:endParaRPr lang="en-IE" sz="27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85800" y="4617761"/>
            <a:ext cx="5943600" cy="133705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E" sz="2700" dirty="0">
                <a:solidFill>
                  <a:srgbClr val="C00000"/>
                </a:solidFill>
              </a:rPr>
              <a:t>Q3</a:t>
            </a:r>
            <a:r>
              <a:rPr lang="en-IE" sz="2700" dirty="0"/>
              <a:t>	</a:t>
            </a:r>
            <a:r>
              <a:rPr lang="en-IE" sz="2700" dirty="0">
                <a:solidFill>
                  <a:srgbClr val="C00000"/>
                </a:solidFill>
              </a:rPr>
              <a:t>not(b &lt; a) and (c &gt; b)</a:t>
            </a:r>
          </a:p>
          <a:p>
            <a:pPr marL="0" indent="0">
              <a:buNone/>
            </a:pPr>
            <a:r>
              <a:rPr lang="en-IE" sz="2700" dirty="0">
                <a:solidFill>
                  <a:srgbClr val="C00000"/>
                </a:solidFill>
              </a:rPr>
              <a:t>A3</a:t>
            </a:r>
            <a:r>
              <a:rPr lang="en-IE" sz="2700" dirty="0"/>
              <a:t>	not(10 &lt; 5) is true.  (7 &gt; 10) is 	false.  	Overall answer is FALSE.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D55253B-ECDC-48D8-A4B7-1FDC72466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3CE1DF-4F0F-4C61-A775-1A19E283E851}"/>
              </a:ext>
            </a:extLst>
          </p:cNvPr>
          <p:cNvSpPr/>
          <p:nvPr/>
        </p:nvSpPr>
        <p:spPr>
          <a:xfrm>
            <a:off x="7239000" y="919325"/>
            <a:ext cx="1371600" cy="175432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3600" dirty="0"/>
              <a:t>a = 5</a:t>
            </a:r>
          </a:p>
          <a:p>
            <a:r>
              <a:rPr lang="en-IE" sz="3600" dirty="0"/>
              <a:t>b = 10</a:t>
            </a:r>
          </a:p>
          <a:p>
            <a:r>
              <a:rPr lang="en-IE" sz="3600" dirty="0"/>
              <a:t>c = 7</a:t>
            </a:r>
          </a:p>
        </p:txBody>
      </p:sp>
    </p:spTree>
    <p:extLst>
      <p:ext uri="{BB962C8B-B14F-4D97-AF65-F5344CB8AC3E}">
        <p14:creationId xmlns:p14="http://schemas.microsoft.com/office/powerpoint/2010/main" val="2045846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if statement example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1472" y="1257727"/>
            <a:ext cx="7885328" cy="5710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sz="2800" dirty="0"/>
              <a:t>If the (x, y) coordinates of the mouse pointer are:</a:t>
            </a:r>
            <a:endParaRPr lang="en-IE" dirty="0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468315B5-0732-4EBA-8754-401058440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25CB77-D345-44C9-9163-E6CB095EF720}"/>
              </a:ext>
            </a:extLst>
          </p:cNvPr>
          <p:cNvSpPr txBox="1"/>
          <p:nvPr/>
        </p:nvSpPr>
        <p:spPr>
          <a:xfrm>
            <a:off x="1493689" y="2420865"/>
            <a:ext cx="21564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dirty="0"/>
              <a:t>inside</a:t>
            </a:r>
            <a:r>
              <a:rPr lang="en-IE" dirty="0"/>
              <a:t> the rectangle coordinates, then fill the rectangle with </a:t>
            </a:r>
            <a:r>
              <a:rPr lang="en-IE" b="1" dirty="0"/>
              <a:t>white</a:t>
            </a:r>
            <a:r>
              <a:rPr lang="en-IE" dirty="0"/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C3FFF1-13EC-42DC-B700-F3A8792138D3}"/>
              </a:ext>
            </a:extLst>
          </p:cNvPr>
          <p:cNvSpPr txBox="1"/>
          <p:nvPr/>
        </p:nvSpPr>
        <p:spPr>
          <a:xfrm>
            <a:off x="5257800" y="2406088"/>
            <a:ext cx="22441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dirty="0"/>
              <a:t>outside</a:t>
            </a:r>
            <a:r>
              <a:rPr lang="en-IE" dirty="0"/>
              <a:t> the rectangle coordinates, then fill the rectangle with </a:t>
            </a:r>
            <a:r>
              <a:rPr lang="en-IE" b="1" dirty="0"/>
              <a:t>black</a:t>
            </a:r>
            <a:r>
              <a:rPr lang="en-IE" dirty="0"/>
              <a:t>.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BA541B5B-C590-4AC6-9B55-4CC989DBE039}"/>
              </a:ext>
            </a:extLst>
          </p:cNvPr>
          <p:cNvSpPr/>
          <p:nvPr/>
        </p:nvSpPr>
        <p:spPr>
          <a:xfrm>
            <a:off x="2167970" y="3988388"/>
            <a:ext cx="533400" cy="609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B8C1BC09-0AD2-40A4-9B76-956AAFF56BD6}"/>
              </a:ext>
            </a:extLst>
          </p:cNvPr>
          <p:cNvSpPr/>
          <p:nvPr/>
        </p:nvSpPr>
        <p:spPr>
          <a:xfrm>
            <a:off x="6113184" y="4000882"/>
            <a:ext cx="533400" cy="609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CB103F-BDA9-4FB1-B554-0E6AB11A9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146" y="4745125"/>
            <a:ext cx="1257475" cy="14765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617A08-CA6A-423D-82A3-BBA456DBB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5932" y="4745125"/>
            <a:ext cx="1257475" cy="14765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053468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if statement example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1472" y="1257727"/>
            <a:ext cx="7885328" cy="57107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E" sz="2800" dirty="0"/>
              <a:t>The rectangle coordinates are (10, 20), width is 50 and height is 70.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468315B5-0732-4EBA-8754-401058440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617A08-CA6A-423D-82A3-BBA456DBB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230" y="2286000"/>
            <a:ext cx="2685539" cy="3153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75248A3-DC8B-43E6-AEEE-643718DA47F8}"/>
              </a:ext>
            </a:extLst>
          </p:cNvPr>
          <p:cNvCxnSpPr>
            <a:cxnSpLocks/>
          </p:cNvCxnSpPr>
          <p:nvPr/>
        </p:nvCxnSpPr>
        <p:spPr>
          <a:xfrm>
            <a:off x="2590800" y="2819400"/>
            <a:ext cx="1143000" cy="68888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6433543-4911-426D-B086-AC28227880CF}"/>
              </a:ext>
            </a:extLst>
          </p:cNvPr>
          <p:cNvSpPr txBox="1"/>
          <p:nvPr/>
        </p:nvSpPr>
        <p:spPr>
          <a:xfrm>
            <a:off x="2086230" y="2451115"/>
            <a:ext cx="1143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(10,20)</a:t>
            </a:r>
            <a:endParaRPr lang="en-VI" b="1" dirty="0">
              <a:solidFill>
                <a:srgbClr val="C0000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67814F9-4FFF-46E2-A8C6-3552F58E7AC6}"/>
              </a:ext>
            </a:extLst>
          </p:cNvPr>
          <p:cNvCxnSpPr>
            <a:cxnSpLocks/>
          </p:cNvCxnSpPr>
          <p:nvPr/>
        </p:nvCxnSpPr>
        <p:spPr>
          <a:xfrm flipH="1">
            <a:off x="4744136" y="2832115"/>
            <a:ext cx="1351864" cy="67617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9C6C85D-7607-4E70-967D-AA4A7AA71DE2}"/>
              </a:ext>
            </a:extLst>
          </p:cNvPr>
          <p:cNvSpPr txBox="1"/>
          <p:nvPr/>
        </p:nvSpPr>
        <p:spPr>
          <a:xfrm>
            <a:off x="6104860" y="2542996"/>
            <a:ext cx="1143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(60,20)</a:t>
            </a:r>
            <a:endParaRPr lang="en-VI" b="1" dirty="0">
              <a:solidFill>
                <a:srgbClr val="C00000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92681FB-DEDA-44D1-92E1-1D81FE45E5C5}"/>
              </a:ext>
            </a:extLst>
          </p:cNvPr>
          <p:cNvCxnSpPr>
            <a:cxnSpLocks/>
          </p:cNvCxnSpPr>
          <p:nvPr/>
        </p:nvCxnSpPr>
        <p:spPr>
          <a:xfrm flipV="1">
            <a:off x="2895600" y="4918794"/>
            <a:ext cx="838200" cy="65116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E441D71-0F18-4EBD-A460-42A0952417EA}"/>
              </a:ext>
            </a:extLst>
          </p:cNvPr>
          <p:cNvSpPr txBox="1"/>
          <p:nvPr/>
        </p:nvSpPr>
        <p:spPr>
          <a:xfrm>
            <a:off x="2071815" y="5439475"/>
            <a:ext cx="1143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(10,90)</a:t>
            </a:r>
            <a:endParaRPr lang="en-VI" b="1" dirty="0">
              <a:solidFill>
                <a:srgbClr val="C00000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BB17BE9-AE85-489E-AB9D-2F1894D0DCF3}"/>
              </a:ext>
            </a:extLst>
          </p:cNvPr>
          <p:cNvCxnSpPr>
            <a:cxnSpLocks/>
          </p:cNvCxnSpPr>
          <p:nvPr/>
        </p:nvCxnSpPr>
        <p:spPr>
          <a:xfrm flipH="1" flipV="1">
            <a:off x="4749856" y="4953001"/>
            <a:ext cx="1498543" cy="4864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9B89DA5-D2AE-45FE-B53C-2081A5012DC2}"/>
              </a:ext>
            </a:extLst>
          </p:cNvPr>
          <p:cNvSpPr txBox="1"/>
          <p:nvPr/>
        </p:nvSpPr>
        <p:spPr>
          <a:xfrm>
            <a:off x="6006247" y="5439475"/>
            <a:ext cx="1143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(60,90)</a:t>
            </a:r>
            <a:endParaRPr lang="en-VI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2134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DC8B9-89A2-4CB6-8686-151B6D627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if statement example 4</a:t>
            </a:r>
            <a:endParaRPr lang="en-V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555C6E-9421-4897-A298-7874AC165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18DB92-0CEB-45EB-8766-13DFCAA5E4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181" b="37448"/>
          <a:stretch/>
        </p:blipFill>
        <p:spPr>
          <a:xfrm>
            <a:off x="685800" y="838200"/>
            <a:ext cx="7606243" cy="41771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CE4FFB-999D-4DBA-8791-A3D55A1C1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4318359"/>
            <a:ext cx="2994768" cy="21957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5086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if statement example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1472" y="1257727"/>
            <a:ext cx="7885328" cy="57107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E" sz="2800" dirty="0"/>
              <a:t>If the (x, y) coordinates of the mouse pointer are in the:</a:t>
            </a:r>
            <a:endParaRPr lang="en-IE" dirty="0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468315B5-0732-4EBA-8754-401058440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BA541B5B-C590-4AC6-9B55-4CC989DBE039}"/>
              </a:ext>
            </a:extLst>
          </p:cNvPr>
          <p:cNvSpPr/>
          <p:nvPr/>
        </p:nvSpPr>
        <p:spPr>
          <a:xfrm>
            <a:off x="1704753" y="3733800"/>
            <a:ext cx="533400" cy="609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B8C1BC09-0AD2-40A4-9B76-956AAFF56BD6}"/>
              </a:ext>
            </a:extLst>
          </p:cNvPr>
          <p:cNvSpPr/>
          <p:nvPr/>
        </p:nvSpPr>
        <p:spPr>
          <a:xfrm>
            <a:off x="4267205" y="3724422"/>
            <a:ext cx="533400" cy="609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40E527-4302-4E00-A520-61B8B2A7E554}"/>
              </a:ext>
            </a:extLst>
          </p:cNvPr>
          <p:cNvSpPr txBox="1"/>
          <p:nvPr/>
        </p:nvSpPr>
        <p:spPr>
          <a:xfrm>
            <a:off x="805016" y="2094990"/>
            <a:ext cx="28662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dirty="0"/>
              <a:t>upper-left quadrant </a:t>
            </a:r>
            <a:r>
              <a:rPr lang="en-IE" dirty="0"/>
              <a:t>of the display window, draw a black rectangle covering the upper-left quadrant of the window.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4CC651-AB78-4D20-8FA6-AB8B9BCE21E9}"/>
              </a:ext>
            </a:extLst>
          </p:cNvPr>
          <p:cNvSpPr txBox="1"/>
          <p:nvPr/>
        </p:nvSpPr>
        <p:spPr>
          <a:xfrm>
            <a:off x="3905168" y="3013135"/>
            <a:ext cx="48872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dirty="0"/>
              <a:t>Repeat this approach for the following quadrants: </a:t>
            </a:r>
          </a:p>
          <a:p>
            <a:r>
              <a:rPr lang="en-IE" b="1" dirty="0"/>
              <a:t>upper-right           lower-left           lower-right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EAFE2145-CAF7-4CBF-8D3B-47CBA8C8EA6C}"/>
              </a:ext>
            </a:extLst>
          </p:cNvPr>
          <p:cNvSpPr/>
          <p:nvPr/>
        </p:nvSpPr>
        <p:spPr>
          <a:xfrm>
            <a:off x="7439247" y="3724422"/>
            <a:ext cx="533400" cy="609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E8B48934-4FFF-419B-8AFA-05762F13940F}"/>
              </a:ext>
            </a:extLst>
          </p:cNvPr>
          <p:cNvSpPr/>
          <p:nvPr/>
        </p:nvSpPr>
        <p:spPr>
          <a:xfrm>
            <a:off x="5842377" y="3724422"/>
            <a:ext cx="533400" cy="609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606025-9180-4789-A1BD-58B59BC3B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715" y="4501336"/>
            <a:ext cx="1257475" cy="14765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4509262-29A1-4357-8373-2F1E1C536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168" y="4504880"/>
            <a:ext cx="1257475" cy="14765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B298548-981C-4ACA-A4A8-C47AAFDC10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0340" y="4504880"/>
            <a:ext cx="1257475" cy="14765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2F215B4-D33A-4F79-A39E-CBB194DBCB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5512" y="4548603"/>
            <a:ext cx="1257475" cy="14765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078793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0DBA440-0960-470E-B150-B1CDF817E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815" y="2567805"/>
            <a:ext cx="2500185" cy="29358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if statement example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1472" y="1257727"/>
            <a:ext cx="7885328" cy="57107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E" sz="2800" dirty="0"/>
              <a:t>The display window is (100,100).  The rectangle width is 50 and height is 50.</a:t>
            </a:r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468315B5-0732-4EBA-8754-401058440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75248A3-DC8B-43E6-AEEE-643718DA47F8}"/>
              </a:ext>
            </a:extLst>
          </p:cNvPr>
          <p:cNvCxnSpPr>
            <a:cxnSpLocks/>
          </p:cNvCxnSpPr>
          <p:nvPr/>
        </p:nvCxnSpPr>
        <p:spPr>
          <a:xfrm>
            <a:off x="2824955" y="2860498"/>
            <a:ext cx="675610" cy="4951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6433543-4911-426D-B086-AC28227880CF}"/>
              </a:ext>
            </a:extLst>
          </p:cNvPr>
          <p:cNvSpPr txBox="1"/>
          <p:nvPr/>
        </p:nvSpPr>
        <p:spPr>
          <a:xfrm>
            <a:off x="2357565" y="2397428"/>
            <a:ext cx="1143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(0,0)</a:t>
            </a:r>
            <a:endParaRPr lang="en-VI" b="1" dirty="0">
              <a:solidFill>
                <a:srgbClr val="C0000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67814F9-4FFF-46E2-A8C6-3552F58E7AC6}"/>
              </a:ext>
            </a:extLst>
          </p:cNvPr>
          <p:cNvCxnSpPr>
            <a:cxnSpLocks/>
          </p:cNvCxnSpPr>
          <p:nvPr/>
        </p:nvCxnSpPr>
        <p:spPr>
          <a:xfrm flipH="1">
            <a:off x="4464907" y="2832115"/>
            <a:ext cx="1631093" cy="5235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9C6C85D-7607-4E70-967D-AA4A7AA71DE2}"/>
              </a:ext>
            </a:extLst>
          </p:cNvPr>
          <p:cNvSpPr txBox="1"/>
          <p:nvPr/>
        </p:nvSpPr>
        <p:spPr>
          <a:xfrm>
            <a:off x="6104860" y="2542996"/>
            <a:ext cx="1143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(50,0)</a:t>
            </a:r>
            <a:endParaRPr lang="en-VI" b="1" dirty="0">
              <a:solidFill>
                <a:srgbClr val="C00000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92681FB-DEDA-44D1-92E1-1D81FE45E5C5}"/>
              </a:ext>
            </a:extLst>
          </p:cNvPr>
          <p:cNvCxnSpPr>
            <a:cxnSpLocks/>
          </p:cNvCxnSpPr>
          <p:nvPr/>
        </p:nvCxnSpPr>
        <p:spPr>
          <a:xfrm flipV="1">
            <a:off x="2681416" y="4249090"/>
            <a:ext cx="838200" cy="65116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E441D71-0F18-4EBD-A460-42A0952417EA}"/>
              </a:ext>
            </a:extLst>
          </p:cNvPr>
          <p:cNvSpPr txBox="1"/>
          <p:nvPr/>
        </p:nvSpPr>
        <p:spPr>
          <a:xfrm>
            <a:off x="2214690" y="4880130"/>
            <a:ext cx="1143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(0,50)</a:t>
            </a:r>
            <a:endParaRPr lang="en-VI" b="1" dirty="0">
              <a:solidFill>
                <a:srgbClr val="C00000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BB17BE9-AE85-489E-AB9D-2F1894D0DCF3}"/>
              </a:ext>
            </a:extLst>
          </p:cNvPr>
          <p:cNvCxnSpPr>
            <a:cxnSpLocks/>
          </p:cNvCxnSpPr>
          <p:nvPr/>
        </p:nvCxnSpPr>
        <p:spPr>
          <a:xfrm flipH="1" flipV="1">
            <a:off x="4429108" y="4288067"/>
            <a:ext cx="1498543" cy="4864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9B89DA5-D2AE-45FE-B53C-2081A5012DC2}"/>
              </a:ext>
            </a:extLst>
          </p:cNvPr>
          <p:cNvSpPr txBox="1"/>
          <p:nvPr/>
        </p:nvSpPr>
        <p:spPr>
          <a:xfrm>
            <a:off x="5909930" y="4567585"/>
            <a:ext cx="1143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(50,50)</a:t>
            </a:r>
            <a:endParaRPr lang="en-VI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93457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if statement example 5</a:t>
            </a:r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468315B5-0732-4EBA-8754-401058440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D6D9CD-872A-4D8B-912E-203EE87C68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181" b="30874"/>
          <a:stretch/>
        </p:blipFill>
        <p:spPr>
          <a:xfrm>
            <a:off x="573158" y="697435"/>
            <a:ext cx="7606243" cy="46820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D1372A-B318-417F-B32B-064F3DFA7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0" y="4038600"/>
            <a:ext cx="2895600" cy="20329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961433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E7CD9D8-70F5-42D2-977E-441F146329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2590800"/>
            <a:ext cx="7772400" cy="1470025"/>
          </a:xfrm>
        </p:spPr>
        <p:txBody>
          <a:bodyPr/>
          <a:lstStyle/>
          <a:p>
            <a:r>
              <a:rPr lang="en-GB" dirty="0"/>
              <a:t>Some Syntax Errors</a:t>
            </a:r>
            <a:endParaRPr lang="en-V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CAE6C-1B9C-4046-8297-DA5BDC293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5136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A02984-34E4-4C08-9A18-9230A75CA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53BBC6-7DD8-4B3E-889D-228517CED6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181" b="37448"/>
          <a:stretch/>
        </p:blipFill>
        <p:spPr>
          <a:xfrm>
            <a:off x="685800" y="838200"/>
            <a:ext cx="7606243" cy="41771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Arrow: Up 3">
            <a:extLst>
              <a:ext uri="{FF2B5EF4-FFF2-40B4-BE49-F238E27FC236}">
                <a16:creationId xmlns:a16="http://schemas.microsoft.com/office/drawing/2014/main" id="{DCDD0A12-02CB-418C-85BD-1A2336E06E45}"/>
              </a:ext>
            </a:extLst>
          </p:cNvPr>
          <p:cNvSpPr/>
          <p:nvPr/>
        </p:nvSpPr>
        <p:spPr>
          <a:xfrm>
            <a:off x="4774018" y="3962400"/>
            <a:ext cx="662763" cy="14478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CC10C3B-0C60-4930-B55A-843918F96635}"/>
              </a:ext>
            </a:extLst>
          </p:cNvPr>
          <p:cNvSpPr/>
          <p:nvPr/>
        </p:nvSpPr>
        <p:spPr>
          <a:xfrm>
            <a:off x="3276600" y="5410200"/>
            <a:ext cx="365760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 have four Boolean conditions on one line.  If we wanted to display them over two lines…</a:t>
            </a:r>
            <a:endParaRPr lang="en-VI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78A79FA-216D-49F0-9C3E-94202B9B93D0}"/>
              </a:ext>
            </a:extLst>
          </p:cNvPr>
          <p:cNvSpPr txBox="1">
            <a:spLocks/>
          </p:cNvSpPr>
          <p:nvPr/>
        </p:nvSpPr>
        <p:spPr>
          <a:xfrm>
            <a:off x="2286000" y="37317"/>
            <a:ext cx="5835693" cy="648483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5A6DB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Some Syntax Errors</a:t>
            </a:r>
            <a:endParaRPr lang="en-VI" dirty="0"/>
          </a:p>
        </p:txBody>
      </p:sp>
    </p:spTree>
    <p:extLst>
      <p:ext uri="{BB962C8B-B14F-4D97-AF65-F5344CB8AC3E}">
        <p14:creationId xmlns:p14="http://schemas.microsoft.com/office/powerpoint/2010/main" val="18987621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A02984-34E4-4C08-9A18-9230A75CA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252F64-FBC0-46CB-B5B2-5168DBD5B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85800"/>
            <a:ext cx="6525743" cy="51010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CC10C3B-0C60-4930-B55A-843918F96635}"/>
              </a:ext>
            </a:extLst>
          </p:cNvPr>
          <p:cNvSpPr/>
          <p:nvPr/>
        </p:nvSpPr>
        <p:spPr>
          <a:xfrm>
            <a:off x="5638800" y="2785803"/>
            <a:ext cx="2209800" cy="8067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…we get a syntax error!</a:t>
            </a:r>
            <a:endParaRPr lang="en-VI" sz="24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13E2305-696A-492D-B93F-5D5C3C8E6A93}"/>
              </a:ext>
            </a:extLst>
          </p:cNvPr>
          <p:cNvSpPr txBox="1">
            <a:spLocks/>
          </p:cNvSpPr>
          <p:nvPr/>
        </p:nvSpPr>
        <p:spPr>
          <a:xfrm>
            <a:off x="2286000" y="37317"/>
            <a:ext cx="5835693" cy="648483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5A6DB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Some Syntax Errors</a:t>
            </a:r>
            <a:endParaRPr lang="en-VI" dirty="0"/>
          </a:p>
        </p:txBody>
      </p:sp>
    </p:spTree>
    <p:extLst>
      <p:ext uri="{BB962C8B-B14F-4D97-AF65-F5344CB8AC3E}">
        <p14:creationId xmlns:p14="http://schemas.microsoft.com/office/powerpoint/2010/main" val="41940178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A02984-34E4-4C08-9A18-9230A75CA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EB2803-1F1F-4DBE-B372-B189D4A8B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762000"/>
            <a:ext cx="6615642" cy="51713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CC10C3B-0C60-4930-B55A-843918F96635}"/>
              </a:ext>
            </a:extLst>
          </p:cNvPr>
          <p:cNvSpPr/>
          <p:nvPr/>
        </p:nvSpPr>
        <p:spPr>
          <a:xfrm>
            <a:off x="4953000" y="2399413"/>
            <a:ext cx="3200400" cy="16337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To fix it, add parenthesis around the full Boolean condition i.e. the ()</a:t>
            </a:r>
            <a:endParaRPr lang="en-VI" sz="24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C56BE15-1B47-4818-A8D6-A885F14C6B64}"/>
              </a:ext>
            </a:extLst>
          </p:cNvPr>
          <p:cNvSpPr txBox="1">
            <a:spLocks/>
          </p:cNvSpPr>
          <p:nvPr/>
        </p:nvSpPr>
        <p:spPr>
          <a:xfrm>
            <a:off x="2286000" y="37317"/>
            <a:ext cx="5835693" cy="648483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5A6DB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Some Syntax Errors</a:t>
            </a:r>
            <a:endParaRPr lang="en-VI" dirty="0"/>
          </a:p>
        </p:txBody>
      </p:sp>
    </p:spTree>
    <p:extLst>
      <p:ext uri="{BB962C8B-B14F-4D97-AF65-F5344CB8AC3E}">
        <p14:creationId xmlns:p14="http://schemas.microsoft.com/office/powerpoint/2010/main" val="40881082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44B9B3-01E6-4C94-9721-6348CFBA2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277293A-DE94-414F-B1C7-F6C5A8310278}"/>
              </a:ext>
            </a:extLst>
          </p:cNvPr>
          <p:cNvSpPr txBox="1">
            <a:spLocks/>
          </p:cNvSpPr>
          <p:nvPr/>
        </p:nvSpPr>
        <p:spPr>
          <a:xfrm>
            <a:off x="2286000" y="37317"/>
            <a:ext cx="5835693" cy="648483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5A6DB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Some Syntax Errors</a:t>
            </a:r>
            <a:endParaRPr lang="en-VI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4DCF1B-7903-4791-9AB8-EE4CD5DC7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85800"/>
            <a:ext cx="5554115" cy="51867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Arrow: Up 7">
            <a:extLst>
              <a:ext uri="{FF2B5EF4-FFF2-40B4-BE49-F238E27FC236}">
                <a16:creationId xmlns:a16="http://schemas.microsoft.com/office/drawing/2014/main" id="{9BDEE0E8-161C-4565-AE81-D857055411C4}"/>
              </a:ext>
            </a:extLst>
          </p:cNvPr>
          <p:cNvSpPr/>
          <p:nvPr/>
        </p:nvSpPr>
        <p:spPr>
          <a:xfrm rot="16200000">
            <a:off x="4659719" y="2705099"/>
            <a:ext cx="662763" cy="14478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7293403-F08C-493E-B475-B28CD853A5DA}"/>
              </a:ext>
            </a:extLst>
          </p:cNvPr>
          <p:cNvSpPr/>
          <p:nvPr/>
        </p:nvSpPr>
        <p:spPr>
          <a:xfrm>
            <a:off x="5734494" y="1905000"/>
            <a:ext cx="2971800" cy="2514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 have not indented the code under both of our if statements.  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Indenting code is the only way that Python knows what code belongs to the if statement.</a:t>
            </a:r>
            <a:endParaRPr lang="en-VI" dirty="0"/>
          </a:p>
        </p:txBody>
      </p:sp>
    </p:spTree>
    <p:extLst>
      <p:ext uri="{BB962C8B-B14F-4D97-AF65-F5344CB8AC3E}">
        <p14:creationId xmlns:p14="http://schemas.microsoft.com/office/powerpoint/2010/main" val="547237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44B9B3-01E6-4C94-9721-6348CFBA2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277293A-DE94-414F-B1C7-F6C5A8310278}"/>
              </a:ext>
            </a:extLst>
          </p:cNvPr>
          <p:cNvSpPr txBox="1">
            <a:spLocks/>
          </p:cNvSpPr>
          <p:nvPr/>
        </p:nvSpPr>
        <p:spPr>
          <a:xfrm>
            <a:off x="2286000" y="37317"/>
            <a:ext cx="5835693" cy="648483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5A6DB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Some Syntax Errors</a:t>
            </a:r>
            <a:endParaRPr lang="en-VI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4DCF1B-7903-4791-9AB8-EE4CD5DC723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685800" y="685800"/>
            <a:ext cx="5554115" cy="51867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7293403-F08C-493E-B475-B28CD853A5DA}"/>
              </a:ext>
            </a:extLst>
          </p:cNvPr>
          <p:cNvSpPr/>
          <p:nvPr/>
        </p:nvSpPr>
        <p:spPr>
          <a:xfrm>
            <a:off x="5682588" y="729177"/>
            <a:ext cx="3074405" cy="12795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Correct indentation.  Programmer can choose how many spaces to indent by.</a:t>
            </a:r>
            <a:endParaRPr lang="en-VI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8F031E-348D-4826-B754-BD74645217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3547" b="35163"/>
          <a:stretch/>
        </p:blipFill>
        <p:spPr>
          <a:xfrm>
            <a:off x="4240795" y="2519922"/>
            <a:ext cx="4624810" cy="36627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Arrow: Up 10">
            <a:extLst>
              <a:ext uri="{FF2B5EF4-FFF2-40B4-BE49-F238E27FC236}">
                <a16:creationId xmlns:a16="http://schemas.microsoft.com/office/drawing/2014/main" id="{9ACB6EDC-71D8-431E-B5B9-ABF943862C66}"/>
              </a:ext>
            </a:extLst>
          </p:cNvPr>
          <p:cNvSpPr/>
          <p:nvPr/>
        </p:nvSpPr>
        <p:spPr>
          <a:xfrm rot="10800000">
            <a:off x="6824612" y="1992752"/>
            <a:ext cx="662763" cy="303644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6463676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44B9B3-01E6-4C94-9721-6348CFBA2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277293A-DE94-414F-B1C7-F6C5A8310278}"/>
              </a:ext>
            </a:extLst>
          </p:cNvPr>
          <p:cNvSpPr txBox="1">
            <a:spLocks/>
          </p:cNvSpPr>
          <p:nvPr/>
        </p:nvSpPr>
        <p:spPr>
          <a:xfrm>
            <a:off x="2286000" y="37317"/>
            <a:ext cx="5835693" cy="648483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5A6DB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Some Syntax Errors</a:t>
            </a:r>
            <a:endParaRPr lang="en-VI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37E068-0CF9-459A-A927-D41A5C2F2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107" y="707238"/>
            <a:ext cx="5409493" cy="5051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Arrow: Up 7">
            <a:extLst>
              <a:ext uri="{FF2B5EF4-FFF2-40B4-BE49-F238E27FC236}">
                <a16:creationId xmlns:a16="http://schemas.microsoft.com/office/drawing/2014/main" id="{9BDEE0E8-161C-4565-AE81-D857055411C4}"/>
              </a:ext>
            </a:extLst>
          </p:cNvPr>
          <p:cNvSpPr/>
          <p:nvPr/>
        </p:nvSpPr>
        <p:spPr>
          <a:xfrm rot="16200000">
            <a:off x="4264938" y="2999663"/>
            <a:ext cx="385526" cy="99059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7293403-F08C-493E-B475-B28CD853A5DA}"/>
              </a:ext>
            </a:extLst>
          </p:cNvPr>
          <p:cNvSpPr/>
          <p:nvPr/>
        </p:nvSpPr>
        <p:spPr>
          <a:xfrm>
            <a:off x="4953001" y="2781300"/>
            <a:ext cx="3296093" cy="1295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 have included a Boolean condition with our </a:t>
            </a:r>
            <a:r>
              <a:rPr lang="en-GB" b="1" dirty="0">
                <a:solidFill>
                  <a:srgbClr val="FFFF66"/>
                </a:solidFill>
              </a:rPr>
              <a:t>else</a:t>
            </a:r>
            <a:r>
              <a:rPr lang="en-GB" dirty="0"/>
              <a:t>.  An else doesn’t have a Boolean condition….an </a:t>
            </a:r>
            <a:r>
              <a:rPr lang="en-GB" b="1" dirty="0" err="1">
                <a:solidFill>
                  <a:srgbClr val="FFFF66"/>
                </a:solidFill>
              </a:rPr>
              <a:t>elif</a:t>
            </a:r>
            <a:r>
              <a:rPr lang="en-GB" dirty="0"/>
              <a:t> has.</a:t>
            </a:r>
            <a:endParaRPr lang="en-VI" dirty="0"/>
          </a:p>
        </p:txBody>
      </p:sp>
    </p:spTree>
    <p:extLst>
      <p:ext uri="{BB962C8B-B14F-4D97-AF65-F5344CB8AC3E}">
        <p14:creationId xmlns:p14="http://schemas.microsoft.com/office/powerpoint/2010/main" val="22941495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44B9B3-01E6-4C94-9721-6348CFBA2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277293A-DE94-414F-B1C7-F6C5A8310278}"/>
              </a:ext>
            </a:extLst>
          </p:cNvPr>
          <p:cNvSpPr txBox="1">
            <a:spLocks/>
          </p:cNvSpPr>
          <p:nvPr/>
        </p:nvSpPr>
        <p:spPr>
          <a:xfrm>
            <a:off x="2286000" y="37317"/>
            <a:ext cx="5835693" cy="648483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5A6DB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Some Syntax Errors</a:t>
            </a:r>
            <a:endParaRPr lang="en-VI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37E068-0CF9-459A-A927-D41A5C2F2E0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34107" y="707238"/>
            <a:ext cx="5409493" cy="5051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3D172B-40EE-48E2-A654-343C371B634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3547" b="35163"/>
          <a:stretch/>
        </p:blipFill>
        <p:spPr>
          <a:xfrm>
            <a:off x="4316100" y="2772619"/>
            <a:ext cx="4265440" cy="33781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Arrow: Up 7">
            <a:extLst>
              <a:ext uri="{FF2B5EF4-FFF2-40B4-BE49-F238E27FC236}">
                <a16:creationId xmlns:a16="http://schemas.microsoft.com/office/drawing/2014/main" id="{9BDEE0E8-161C-4565-AE81-D857055411C4}"/>
              </a:ext>
            </a:extLst>
          </p:cNvPr>
          <p:cNvSpPr/>
          <p:nvPr/>
        </p:nvSpPr>
        <p:spPr>
          <a:xfrm rot="10800000">
            <a:off x="6720962" y="2168490"/>
            <a:ext cx="385526" cy="247971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7293403-F08C-493E-B475-B28CD853A5DA}"/>
              </a:ext>
            </a:extLst>
          </p:cNvPr>
          <p:cNvSpPr/>
          <p:nvPr/>
        </p:nvSpPr>
        <p:spPr>
          <a:xfrm>
            <a:off x="5358809" y="1371600"/>
            <a:ext cx="3296093" cy="838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 have fixed the error by changing the </a:t>
            </a:r>
            <a:r>
              <a:rPr lang="en-GB" b="1" dirty="0">
                <a:solidFill>
                  <a:srgbClr val="FFFF66"/>
                </a:solidFill>
              </a:rPr>
              <a:t>else </a:t>
            </a:r>
            <a:r>
              <a:rPr lang="en-GB" dirty="0"/>
              <a:t>to  </a:t>
            </a:r>
            <a:r>
              <a:rPr lang="en-GB" b="1" dirty="0" err="1">
                <a:solidFill>
                  <a:srgbClr val="FFFF66"/>
                </a:solidFill>
              </a:rPr>
              <a:t>elif</a:t>
            </a:r>
            <a:r>
              <a:rPr lang="en-GB" dirty="0"/>
              <a:t> here.</a:t>
            </a:r>
            <a:endParaRPr lang="en-VI" dirty="0"/>
          </a:p>
        </p:txBody>
      </p:sp>
    </p:spTree>
    <p:extLst>
      <p:ext uri="{BB962C8B-B14F-4D97-AF65-F5344CB8AC3E}">
        <p14:creationId xmlns:p14="http://schemas.microsoft.com/office/powerpoint/2010/main" val="36580336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44B9B3-01E6-4C94-9721-6348CFBA2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277293A-DE94-414F-B1C7-F6C5A8310278}"/>
              </a:ext>
            </a:extLst>
          </p:cNvPr>
          <p:cNvSpPr txBox="1">
            <a:spLocks/>
          </p:cNvSpPr>
          <p:nvPr/>
        </p:nvSpPr>
        <p:spPr>
          <a:xfrm>
            <a:off x="2286000" y="37317"/>
            <a:ext cx="5835693" cy="648483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5A6DB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Some Syntax Errors</a:t>
            </a:r>
            <a:endParaRPr lang="en-VI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F23711-EB85-436D-8991-4B282AB06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01749"/>
            <a:ext cx="6049219" cy="56491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Arrow: Up 6">
            <a:extLst>
              <a:ext uri="{FF2B5EF4-FFF2-40B4-BE49-F238E27FC236}">
                <a16:creationId xmlns:a16="http://schemas.microsoft.com/office/drawing/2014/main" id="{EE0528A1-0CD5-4AFE-AEFD-91EDE4B0BDBA}"/>
              </a:ext>
            </a:extLst>
          </p:cNvPr>
          <p:cNvSpPr/>
          <p:nvPr/>
        </p:nvSpPr>
        <p:spPr>
          <a:xfrm rot="16200000">
            <a:off x="4950737" y="3342563"/>
            <a:ext cx="385526" cy="99059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50D0666-8C0B-4C87-B51B-F5E638619D3B}"/>
              </a:ext>
            </a:extLst>
          </p:cNvPr>
          <p:cNvSpPr/>
          <p:nvPr/>
        </p:nvSpPr>
        <p:spPr>
          <a:xfrm>
            <a:off x="5638800" y="3124200"/>
            <a:ext cx="3296093" cy="1295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Our </a:t>
            </a:r>
            <a:r>
              <a:rPr lang="en-GB" b="1" dirty="0" err="1">
                <a:solidFill>
                  <a:srgbClr val="FFFF66"/>
                </a:solidFill>
              </a:rPr>
              <a:t>elif</a:t>
            </a:r>
            <a:r>
              <a:rPr lang="en-GB" dirty="0"/>
              <a:t> doesn’t have a matching </a:t>
            </a:r>
            <a:r>
              <a:rPr lang="en-GB" b="1" dirty="0">
                <a:solidFill>
                  <a:srgbClr val="FFFF66"/>
                </a:solidFill>
              </a:rPr>
              <a:t>if</a:t>
            </a:r>
            <a:r>
              <a:rPr lang="en-GB" dirty="0"/>
              <a:t> at the same indentation level.</a:t>
            </a:r>
            <a:endParaRPr lang="en-VI" dirty="0"/>
          </a:p>
        </p:txBody>
      </p:sp>
    </p:spTree>
    <p:extLst>
      <p:ext uri="{BB962C8B-B14F-4D97-AF65-F5344CB8AC3E}">
        <p14:creationId xmlns:p14="http://schemas.microsoft.com/office/powerpoint/2010/main" val="29239028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44B9B3-01E6-4C94-9721-6348CFBA2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277293A-DE94-414F-B1C7-F6C5A8310278}"/>
              </a:ext>
            </a:extLst>
          </p:cNvPr>
          <p:cNvSpPr txBox="1">
            <a:spLocks/>
          </p:cNvSpPr>
          <p:nvPr/>
        </p:nvSpPr>
        <p:spPr>
          <a:xfrm>
            <a:off x="2286000" y="37317"/>
            <a:ext cx="5835693" cy="648483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5A6DB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Some Syntax Errors</a:t>
            </a:r>
            <a:endParaRPr lang="en-VI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F23711-EB85-436D-8991-4B282AB06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01749"/>
            <a:ext cx="6049219" cy="56491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50D0666-8C0B-4C87-B51B-F5E638619D3B}"/>
              </a:ext>
            </a:extLst>
          </p:cNvPr>
          <p:cNvSpPr/>
          <p:nvPr/>
        </p:nvSpPr>
        <p:spPr>
          <a:xfrm>
            <a:off x="5672470" y="914400"/>
            <a:ext cx="3296093" cy="1295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 moved the </a:t>
            </a:r>
            <a:r>
              <a:rPr lang="en-GB" b="1" dirty="0" err="1">
                <a:solidFill>
                  <a:srgbClr val="FFFF66"/>
                </a:solidFill>
              </a:rPr>
              <a:t>elif</a:t>
            </a:r>
            <a:r>
              <a:rPr lang="en-GB" dirty="0"/>
              <a:t> to have the same number of whitespaces as the </a:t>
            </a:r>
            <a:r>
              <a:rPr lang="en-GB" b="1" dirty="0">
                <a:solidFill>
                  <a:srgbClr val="FFFF66"/>
                </a:solidFill>
              </a:rPr>
              <a:t>if</a:t>
            </a:r>
            <a:r>
              <a:rPr lang="en-GB" dirty="0"/>
              <a:t> above it.</a:t>
            </a:r>
            <a:endParaRPr lang="en-VI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22D488-5D60-42C1-B76D-ACB0A6E493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3547" b="35163"/>
          <a:stretch/>
        </p:blipFill>
        <p:spPr>
          <a:xfrm>
            <a:off x="4593265" y="2751527"/>
            <a:ext cx="4265440" cy="33781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Arrow: Up 6">
            <a:extLst>
              <a:ext uri="{FF2B5EF4-FFF2-40B4-BE49-F238E27FC236}">
                <a16:creationId xmlns:a16="http://schemas.microsoft.com/office/drawing/2014/main" id="{EE0528A1-0CD5-4AFE-AEFD-91EDE4B0BDBA}"/>
              </a:ext>
            </a:extLst>
          </p:cNvPr>
          <p:cNvSpPr/>
          <p:nvPr/>
        </p:nvSpPr>
        <p:spPr>
          <a:xfrm rot="10800000">
            <a:off x="7171332" y="2208746"/>
            <a:ext cx="385526" cy="243945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21009096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4A704F2-1AA7-4D33-8ABA-4087139EFA63}"/>
              </a:ext>
            </a:extLst>
          </p:cNvPr>
          <p:cNvSpPr/>
          <p:nvPr/>
        </p:nvSpPr>
        <p:spPr>
          <a:xfrm>
            <a:off x="4453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dirty="0"/>
              <a:t> </a:t>
            </a:r>
          </a:p>
        </p:txBody>
      </p:sp>
      <p:pic>
        <p:nvPicPr>
          <p:cNvPr id="1026" name="Picture 2" descr="A picture containing red, person, yellow, black&#10;&#10;Description automatically generated">
            <a:extLst>
              <a:ext uri="{FF2B5EF4-FFF2-40B4-BE49-F238E27FC236}">
                <a16:creationId xmlns:a16="http://schemas.microsoft.com/office/drawing/2014/main" id="{3895408F-14A1-440D-8603-975A2C35B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5432425"/>
            <a:ext cx="3924300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 picture containing red, person, yellow, black&#10;&#10;Description automatically generated">
            <a:extLst>
              <a:ext uri="{FF2B5EF4-FFF2-40B4-BE49-F238E27FC236}">
                <a16:creationId xmlns:a16="http://schemas.microsoft.com/office/drawing/2014/main" id="{007F66D5-10F2-463A-ABC8-13DFCCAA9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6" y="5249247"/>
            <a:ext cx="3257549" cy="1312506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8E3772-EB63-44D2-89C0-5B88E7BA50A5}"/>
              </a:ext>
            </a:extLst>
          </p:cNvPr>
          <p:cNvSpPr/>
          <p:nvPr/>
        </p:nvSpPr>
        <p:spPr>
          <a:xfrm>
            <a:off x="228601" y="533400"/>
            <a:ext cx="152399" cy="5181600"/>
          </a:xfrm>
          <a:prstGeom prst="rect">
            <a:avLst/>
          </a:prstGeom>
          <a:solidFill>
            <a:srgbClr val="5A6D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2E41E0-1BDB-4981-A3DC-4CB124D3C692}"/>
              </a:ext>
            </a:extLst>
          </p:cNvPr>
          <p:cNvSpPr/>
          <p:nvPr/>
        </p:nvSpPr>
        <p:spPr>
          <a:xfrm flipH="1">
            <a:off x="228600" y="175846"/>
            <a:ext cx="2819400" cy="357554"/>
          </a:xfrm>
          <a:prstGeom prst="rect">
            <a:avLst/>
          </a:prstGeom>
          <a:solidFill>
            <a:srgbClr val="5A6D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B50991-9963-466F-A2D4-A77F488D3436}"/>
              </a:ext>
            </a:extLst>
          </p:cNvPr>
          <p:cNvSpPr/>
          <p:nvPr/>
        </p:nvSpPr>
        <p:spPr>
          <a:xfrm>
            <a:off x="228599" y="6400800"/>
            <a:ext cx="152399" cy="204787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1A0E05-0638-4320-A96B-56D7FC2D8550}"/>
              </a:ext>
            </a:extLst>
          </p:cNvPr>
          <p:cNvSpPr/>
          <p:nvPr/>
        </p:nvSpPr>
        <p:spPr>
          <a:xfrm>
            <a:off x="228599" y="6096000"/>
            <a:ext cx="152399" cy="2286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5B50C2-4780-4186-AD1E-4DD2AC8FD90B}"/>
              </a:ext>
            </a:extLst>
          </p:cNvPr>
          <p:cNvSpPr/>
          <p:nvPr/>
        </p:nvSpPr>
        <p:spPr>
          <a:xfrm>
            <a:off x="228601" y="5791200"/>
            <a:ext cx="152400" cy="228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AC726E-33FF-44DF-87EA-05831EFD4F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9958" y="2083406"/>
            <a:ext cx="5581649" cy="1383693"/>
          </a:xfrm>
        </p:spPr>
        <p:txBody>
          <a:bodyPr>
            <a:normAutofit/>
          </a:bodyPr>
          <a:lstStyle/>
          <a:p>
            <a:r>
              <a:rPr lang="en-IE" dirty="0"/>
              <a:t>Thank You!</a:t>
            </a:r>
          </a:p>
        </p:txBody>
      </p:sp>
      <p:pic>
        <p:nvPicPr>
          <p:cNvPr id="5" name="Picture 2" descr="Waterford Institute of Technology Logo">
            <a:extLst>
              <a:ext uri="{FF2B5EF4-FFF2-40B4-BE49-F238E27FC236}">
                <a16:creationId xmlns:a16="http://schemas.microsoft.com/office/drawing/2014/main" id="{DA819866-2DD8-46B1-BE37-B9BA10EEE9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5783163"/>
            <a:ext cx="3801035" cy="854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1982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7953" y="1525587"/>
            <a:ext cx="8077200" cy="4830763"/>
          </a:xfrm>
        </p:spPr>
        <p:txBody>
          <a:bodyPr/>
          <a:lstStyle/>
          <a:p>
            <a:pPr marL="0" indent="0">
              <a:buNone/>
            </a:pPr>
            <a:r>
              <a:rPr lang="en-IE" dirty="0"/>
              <a:t>Some of the examples in this slide deck are from the book:</a:t>
            </a:r>
          </a:p>
          <a:p>
            <a:pPr marL="0" indent="0">
              <a:buNone/>
            </a:pPr>
            <a:endParaRPr lang="en-IE" dirty="0"/>
          </a:p>
          <a:p>
            <a:r>
              <a:rPr lang="en-IE" dirty="0" err="1"/>
              <a:t>Reas</a:t>
            </a:r>
            <a:r>
              <a:rPr lang="en-IE" dirty="0"/>
              <a:t>, C. &amp; Fry, B. (2014) Processing – A Programming Handbook for Visual Designers and Artists, 2</a:t>
            </a:r>
            <a:r>
              <a:rPr lang="en-IE" baseline="30000" dirty="0"/>
              <a:t>nd</a:t>
            </a:r>
            <a:r>
              <a:rPr lang="en-IE" dirty="0"/>
              <a:t> Edition, MIT Press, London.</a:t>
            </a:r>
          </a:p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8ADBE-5FA8-4B1F-A35D-75FAF9CDC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4592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5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7170</TotalTime>
  <Words>2248</Words>
  <Application>Microsoft Macintosh PowerPoint</Application>
  <PresentationFormat>On-screen Show (4:3)</PresentationFormat>
  <Paragraphs>440</Paragraphs>
  <Slides>52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52</vt:i4>
      </vt:variant>
    </vt:vector>
  </HeadingPairs>
  <TitlesOfParts>
    <vt:vector size="59" baseType="lpstr">
      <vt:lpstr>Arial Unicode MS</vt:lpstr>
      <vt:lpstr>Arial</vt:lpstr>
      <vt:lpstr>Calibri</vt:lpstr>
      <vt:lpstr>Courier New</vt:lpstr>
      <vt:lpstr>Times New Roman</vt:lpstr>
      <vt:lpstr>Office Theme</vt:lpstr>
      <vt:lpstr>1_Office Theme</vt:lpstr>
      <vt:lpstr>Conditional Statements</vt:lpstr>
      <vt:lpstr>Flow of Control in a Program</vt:lpstr>
      <vt:lpstr>Flow of Control in a Program</vt:lpstr>
      <vt:lpstr>Boolean Condition</vt:lpstr>
      <vt:lpstr>Data Types - Boolean </vt:lpstr>
      <vt:lpstr>Boolean Condition</vt:lpstr>
      <vt:lpstr>Conditional Statements</vt:lpstr>
      <vt:lpstr>if statement syntax</vt:lpstr>
      <vt:lpstr>if statement syntax</vt:lpstr>
      <vt:lpstr>if statement syntax</vt:lpstr>
      <vt:lpstr>if statement syntax</vt:lpstr>
      <vt:lpstr>if statement example 1</vt:lpstr>
      <vt:lpstr>Relational Operators</vt:lpstr>
      <vt:lpstr>Relational Operators</vt:lpstr>
      <vt:lpstr>if statement example 2</vt:lpstr>
      <vt:lpstr>if statement example 2</vt:lpstr>
      <vt:lpstr>Conditional Statements</vt:lpstr>
      <vt:lpstr>if-else syntax</vt:lpstr>
      <vt:lpstr>if-else syntax</vt:lpstr>
      <vt:lpstr>if-else syntax</vt:lpstr>
      <vt:lpstr>if-else syntax</vt:lpstr>
      <vt:lpstr>if statement example 2</vt:lpstr>
      <vt:lpstr>if statement example 2</vt:lpstr>
      <vt:lpstr>Conditional Statements</vt:lpstr>
      <vt:lpstr>if-elif-else syntax</vt:lpstr>
      <vt:lpstr>if statement example 3</vt:lpstr>
      <vt:lpstr>if statement example 3</vt:lpstr>
      <vt:lpstr>Logical Operators</vt:lpstr>
      <vt:lpstr>Logical operators</vt:lpstr>
      <vt:lpstr>Logical operators - AND</vt:lpstr>
      <vt:lpstr>Logical operators - OR</vt:lpstr>
      <vt:lpstr>Logical operators - NOT</vt:lpstr>
      <vt:lpstr>Logical operators - quiz</vt:lpstr>
      <vt:lpstr>Logical operators - answers</vt:lpstr>
      <vt:lpstr>if statement example 4</vt:lpstr>
      <vt:lpstr>if statement example 4</vt:lpstr>
      <vt:lpstr>if statement example 4</vt:lpstr>
      <vt:lpstr>if statement example 5</vt:lpstr>
      <vt:lpstr>if statement example 5</vt:lpstr>
      <vt:lpstr>if statement example 5</vt:lpstr>
      <vt:lpstr>Some Syntax Errors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Newtown Innovation Labs</dc:title>
  <dc:creator>Siobhan Drohan</dc:creator>
  <cp:lastModifiedBy>Mairead Meagher</cp:lastModifiedBy>
  <cp:revision>347</cp:revision>
  <dcterms:created xsi:type="dcterms:W3CDTF">2006-08-16T00:00:00Z</dcterms:created>
  <dcterms:modified xsi:type="dcterms:W3CDTF">2026-06-10T15:34:59Z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0680D055-48F7-457D-8FA8-0B98535B426D</vt:lpwstr>
  </property>
  <property fmtid="{D5CDD505-2E9C-101B-9397-08002B2CF9AE}" pid="3" name="ArticulatePath">
    <vt:lpwstr>a-prog-fund-2-inheritance</vt:lpwstr>
  </property>
</Properties>
</file>